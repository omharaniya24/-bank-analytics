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7" r:id="rId1"/>
  </p:sldMasterIdLst>
  <p:notesMasterIdLst>
    <p:notesMasterId r:id="rId25"/>
  </p:notesMasterIdLst>
  <p:sldIdLst>
    <p:sldId id="296" r:id="rId2"/>
    <p:sldId id="267" r:id="rId3"/>
    <p:sldId id="279" r:id="rId4"/>
    <p:sldId id="268" r:id="rId5"/>
    <p:sldId id="278" r:id="rId6"/>
    <p:sldId id="269" r:id="rId7"/>
    <p:sldId id="270" r:id="rId8"/>
    <p:sldId id="271" r:id="rId9"/>
    <p:sldId id="272" r:id="rId10"/>
    <p:sldId id="273" r:id="rId11"/>
    <p:sldId id="286" r:id="rId12"/>
    <p:sldId id="287" r:id="rId13"/>
    <p:sldId id="288" r:id="rId14"/>
    <p:sldId id="289" r:id="rId15"/>
    <p:sldId id="290" r:id="rId16"/>
    <p:sldId id="291" r:id="rId17"/>
    <p:sldId id="280" r:id="rId18"/>
    <p:sldId id="283" r:id="rId19"/>
    <p:sldId id="282" r:id="rId20"/>
    <p:sldId id="292" r:id="rId21"/>
    <p:sldId id="294" r:id="rId22"/>
    <p:sldId id="295" r:id="rId23"/>
    <p:sldId id="28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pro\Debit%20and%20Credit%20banking_data%20-%20fina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pro\Debit%20and%20Credit%20banking_data%20-%20fina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pro\Bank%20Data%20Analystics%20(Autosaved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pro\Bank%20Data%20Analystics%20(Autosaved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[Debit and Credit banking_data - final.xlsx]sanju!PivotTable3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i="0" u="none" strike="noStrike" kern="1200" cap="none" baseline="0">
                <a:solidFill>
                  <a:sysClr val="window" lastClr="FFFFFF">
                    <a:lumMod val="8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baseline="0"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</a:rPr>
              <a:t>Total Transaction Amount by Bank</a:t>
            </a:r>
            <a:endParaRPr lang="en-US" sz="1200">
              <a:effectLst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" lastClr="FFFFFF">
                    <a:lumMod val="85000"/>
                  </a:sysClr>
                </a:solidFill>
              </a:defRPr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1" i="0" u="none" strike="noStrike" kern="1200" cap="none" baseline="0">
              <a:solidFill>
                <a:sysClr val="window" lastClr="FFFFFF">
                  <a:lumMod val="8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  <c:spPr>
          <a:noFill/>
          <a:ln w="9525" cap="flat" cmpd="sng" algn="ctr">
            <a:solidFill>
              <a:schemeClr val="accent3"/>
            </a:solidFill>
            <a:miter lim="800000"/>
          </a:ln>
          <a:effectLst>
            <a:glow rad="63500">
              <a:schemeClr val="accent3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noFill/>
          <a:ln w="9525" cap="flat" cmpd="sng" algn="ctr">
            <a:solidFill>
              <a:schemeClr val="accent3"/>
            </a:solidFill>
            <a:miter lim="800000"/>
          </a:ln>
          <a:effectLst>
            <a:glow rad="63500">
              <a:schemeClr val="accent3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noFill/>
          <a:ln w="9525" cap="flat" cmpd="sng" algn="ctr">
            <a:solidFill>
              <a:schemeClr val="accent3"/>
            </a:solidFill>
            <a:miter lim="800000"/>
          </a:ln>
          <a:effectLst>
            <a:glow rad="63500">
              <a:schemeClr val="accent3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sanju!$F$3</c:f>
              <c:strCache>
                <c:ptCount val="1"/>
                <c:pt idx="0">
                  <c:v>Total</c:v>
                </c:pt>
              </c:strCache>
            </c:strRef>
          </c:tx>
          <c:spPr>
            <a:noFill/>
            <a:ln w="9525" cap="flat" cmpd="sng" algn="ctr">
              <a:solidFill>
                <a:schemeClr val="accent3"/>
              </a:solidFill>
              <a:miter lim="800000"/>
            </a:ln>
            <a:effectLst>
              <a:glow rad="63500">
                <a:schemeClr val="accent3"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sanju!$E$4:$E$11</c:f>
              <c:strCache>
                <c:ptCount val="7"/>
                <c:pt idx="0">
                  <c:v>Axis Bank</c:v>
                </c:pt>
                <c:pt idx="1">
                  <c:v>HDFC Bank</c:v>
                </c:pt>
                <c:pt idx="2">
                  <c:v>ICICI Bank</c:v>
                </c:pt>
                <c:pt idx="3">
                  <c:v>Kotak Mahindra Bank</c:v>
                </c:pt>
                <c:pt idx="4">
                  <c:v>Punjab National Bank</c:v>
                </c:pt>
                <c:pt idx="5">
                  <c:v>State Bank of India</c:v>
                </c:pt>
                <c:pt idx="6">
                  <c:v>(blank)</c:v>
                </c:pt>
              </c:strCache>
            </c:strRef>
          </c:cat>
          <c:val>
            <c:numRef>
              <c:f>sanju!$F$4:$F$11</c:f>
              <c:numCache>
                <c:formatCode>_(* #,##0_);_(* \(#,##0\);_(* "-"??_);_(@_)</c:formatCode>
                <c:ptCount val="7"/>
                <c:pt idx="0">
                  <c:v>42707432.470000222</c:v>
                </c:pt>
                <c:pt idx="1">
                  <c:v>41866439.009999953</c:v>
                </c:pt>
                <c:pt idx="2">
                  <c:v>42524788.16999995</c:v>
                </c:pt>
                <c:pt idx="3">
                  <c:v>42833855.189999871</c:v>
                </c:pt>
                <c:pt idx="4">
                  <c:v>42365512.72000014</c:v>
                </c:pt>
                <c:pt idx="5">
                  <c:v>42590628.069999956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0E-4799-A930-C8D76E842C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5"/>
        <c:axId val="324000136"/>
        <c:axId val="324012616"/>
      </c:barChart>
      <c:catAx>
        <c:axId val="324000136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4012616"/>
        <c:crosses val="autoZero"/>
        <c:auto val="1"/>
        <c:lblAlgn val="ctr"/>
        <c:lblOffset val="100"/>
        <c:noMultiLvlLbl val="0"/>
      </c:catAx>
      <c:valAx>
        <c:axId val="324012616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4000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2857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[Debit and Credit banking_data - final.xlsx]sanju!PivotTable7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Transaction Method Distribution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  <c:spPr>
          <a:gradFill rotWithShape="1">
            <a:gsLst>
              <a:gs pos="0">
                <a:schemeClr val="accent3">
                  <a:shade val="51000"/>
                  <a:satMod val="130000"/>
                </a:schemeClr>
              </a:gs>
              <a:gs pos="80000">
                <a:schemeClr val="accent3">
                  <a:shade val="93000"/>
                  <a:satMod val="130000"/>
                </a:schemeClr>
              </a:gs>
              <a:gs pos="100000">
                <a:schemeClr val="accent3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3">
                  <a:shade val="51000"/>
                  <a:satMod val="130000"/>
                </a:schemeClr>
              </a:gs>
              <a:gs pos="80000">
                <a:schemeClr val="accent3">
                  <a:shade val="93000"/>
                  <a:satMod val="130000"/>
                </a:schemeClr>
              </a:gs>
              <a:gs pos="100000">
                <a:schemeClr val="accent3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3">
                  <a:shade val="51000"/>
                  <a:satMod val="130000"/>
                </a:schemeClr>
              </a:gs>
              <a:gs pos="80000">
                <a:schemeClr val="accent3">
                  <a:shade val="93000"/>
                  <a:satMod val="130000"/>
                </a:schemeClr>
              </a:gs>
              <a:gs pos="100000">
                <a:schemeClr val="accent3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sanju!$M$16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51000"/>
                    <a:satMod val="130000"/>
                  </a:schemeClr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sanju!$L$17:$L$21</c:f>
              <c:strCache>
                <c:ptCount val="4"/>
                <c:pt idx="0">
                  <c:v>Bank Transfer</c:v>
                </c:pt>
                <c:pt idx="1">
                  <c:v>Credit Card</c:v>
                </c:pt>
                <c:pt idx="2">
                  <c:v>Debit Card</c:v>
                </c:pt>
                <c:pt idx="3">
                  <c:v>(blank)</c:v>
                </c:pt>
              </c:strCache>
            </c:strRef>
          </c:cat>
          <c:val>
            <c:numRef>
              <c:f>sanju!$M$17:$M$21</c:f>
              <c:numCache>
                <c:formatCode>_(* #,##0_);_(* \(#,##0\);_(* "-"??_);_(@_)</c:formatCode>
                <c:ptCount val="4"/>
                <c:pt idx="0">
                  <c:v>84800788.420000121</c:v>
                </c:pt>
                <c:pt idx="1">
                  <c:v>84929361.03000018</c:v>
                </c:pt>
                <c:pt idx="2">
                  <c:v>85158506.179999754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47-4795-B4DE-330DD4AA7D7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321888656"/>
        <c:axId val="321887872"/>
      </c:barChart>
      <c:catAx>
        <c:axId val="321888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887872"/>
        <c:crosses val="autoZero"/>
        <c:auto val="1"/>
        <c:lblAlgn val="ctr"/>
        <c:lblOffset val="100"/>
        <c:noMultiLvlLbl val="0"/>
      </c:catAx>
      <c:valAx>
        <c:axId val="321887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888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[Bank Data Analystics (Autosaved).xlsx]Pivot Summary!PivotTable11</c:name>
    <c:fmtId val="10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'Pivot Summary'!$P$3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E1B-4C07-95C2-20AC017442D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E1B-4C07-95C2-20AC017442D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E1B-4C07-95C2-20AC017442D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E1B-4C07-95C2-20AC017442DA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E1B-4C07-95C2-20AC017442DA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E1B-4C07-95C2-20AC017442D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 Summary'!$O$4:$O$10</c:f>
              <c:strCache>
                <c:ptCount val="6"/>
                <c:pt idx="1">
                  <c:v>Christian</c:v>
                </c:pt>
                <c:pt idx="2">
                  <c:v>Hindu</c:v>
                </c:pt>
                <c:pt idx="3">
                  <c:v>Muslim</c:v>
                </c:pt>
                <c:pt idx="4">
                  <c:v>Sikh</c:v>
                </c:pt>
                <c:pt idx="5">
                  <c:v>(blank)</c:v>
                </c:pt>
              </c:strCache>
            </c:strRef>
          </c:cat>
          <c:val>
            <c:numRef>
              <c:f>'Pivot Summary'!$P$4:$P$10</c:f>
              <c:numCache>
                <c:formatCode>General</c:formatCode>
                <c:ptCount val="6"/>
                <c:pt idx="0">
                  <c:v>93625</c:v>
                </c:pt>
                <c:pt idx="1">
                  <c:v>5609600</c:v>
                </c:pt>
                <c:pt idx="2">
                  <c:v>549382800</c:v>
                </c:pt>
                <c:pt idx="3">
                  <c:v>78831925</c:v>
                </c:pt>
                <c:pt idx="4">
                  <c:v>98779250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E1B-4C07-95C2-20AC017442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delete val="1"/>
      </c:legendEntry>
      <c:legendEntry>
        <c:idx val="5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[Bank Data Analystics (Autosaved).xlsx]Pivot Summary!PivotTable16</c:name>
    <c:fmtId val="3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areaChart>
        <c:grouping val="standard"/>
        <c:varyColors val="0"/>
        <c:ser>
          <c:idx val="0"/>
          <c:order val="0"/>
          <c:tx>
            <c:strRef>
              <c:f>'Pivot Summary'!$O$42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Summary'!$N$43:$N$48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56-63</c:v>
                </c:pt>
              </c:strCache>
            </c:strRef>
          </c:cat>
          <c:val>
            <c:numRef>
              <c:f>'Pivot Summary'!$O$43:$O$48</c:f>
              <c:numCache>
                <c:formatCode>0</c:formatCode>
                <c:ptCount val="5"/>
                <c:pt idx="0">
                  <c:v>7740</c:v>
                </c:pt>
                <c:pt idx="1">
                  <c:v>23592</c:v>
                </c:pt>
                <c:pt idx="2">
                  <c:v>20648</c:v>
                </c:pt>
                <c:pt idx="3">
                  <c:v>11899</c:v>
                </c:pt>
                <c:pt idx="4">
                  <c:v>1656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C2-4E10-B56D-364B024BBF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23935096"/>
        <c:axId val="323941760"/>
      </c:areaChart>
      <c:catAx>
        <c:axId val="3239350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3941760"/>
        <c:crosses val="autoZero"/>
        <c:auto val="1"/>
        <c:lblAlgn val="ctr"/>
        <c:lblOffset val="100"/>
        <c:noMultiLvlLbl val="0"/>
      </c:catAx>
      <c:valAx>
        <c:axId val="323941760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393509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37891-4CA2-4996-8E0D-C0288CAEF17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8392B-952B-49AB-AE57-438BB39F3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402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47915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66893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58742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30854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55201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47965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56878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90275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E1CE2-13BB-4082-8269-1B2C6391D28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3735B-7BF4-47A2-B1B1-264AA023B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91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E1CE2-13BB-4082-8269-1B2C6391D28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3735B-7BF4-47A2-B1B1-264AA023B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9871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E1CE2-13BB-4082-8269-1B2C6391D28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3735B-7BF4-47A2-B1B1-264AA023B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5506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E1CE2-13BB-4082-8269-1B2C6391D28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3735B-7BF4-47A2-B1B1-264AA023B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4248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E1CE2-13BB-4082-8269-1B2C6391D28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3735B-7BF4-47A2-B1B1-264AA023B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065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E1CE2-13BB-4082-8269-1B2C6391D28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3735B-7BF4-47A2-B1B1-264AA023B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7528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E1CE2-13BB-4082-8269-1B2C6391D28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3735B-7BF4-47A2-B1B1-264AA023B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1099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E1CE2-13BB-4082-8269-1B2C6391D28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3735B-7BF4-47A2-B1B1-264AA023B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9202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E1CE2-13BB-4082-8269-1B2C6391D28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3735B-7BF4-47A2-B1B1-264AA023B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2377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E1CE2-13BB-4082-8269-1B2C6391D28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3735B-7BF4-47A2-B1B1-264AA023B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3523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E1CE2-13BB-4082-8269-1B2C6391D28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3735B-7BF4-47A2-B1B1-264AA023B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1908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E1CE2-13BB-4082-8269-1B2C6391D28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3735B-7BF4-47A2-B1B1-264AA023BEA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56929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E1CE2-13BB-4082-8269-1B2C6391D28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3735B-7BF4-47A2-B1B1-264AA023B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3491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E1CE2-13BB-4082-8269-1B2C6391D28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3735B-7BF4-47A2-B1B1-264AA023B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7911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E1CE2-13BB-4082-8269-1B2C6391D28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3735B-7BF4-47A2-B1B1-264AA023B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0909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E1CE2-13BB-4082-8269-1B2C6391D28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3735B-7BF4-47A2-B1B1-264AA023B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2969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E1CE2-13BB-4082-8269-1B2C6391D28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3735B-7BF4-47A2-B1B1-264AA023B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9217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E1CE2-13BB-4082-8269-1B2C6391D28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3735B-7BF4-47A2-B1B1-264AA023B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9008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18" r:id="rId1"/>
    <p:sldLayoutId id="2147484119" r:id="rId2"/>
    <p:sldLayoutId id="2147484120" r:id="rId3"/>
    <p:sldLayoutId id="2147484121" r:id="rId4"/>
    <p:sldLayoutId id="2147484122" r:id="rId5"/>
    <p:sldLayoutId id="2147484123" r:id="rId6"/>
    <p:sldLayoutId id="2147484124" r:id="rId7"/>
    <p:sldLayoutId id="2147484125" r:id="rId8"/>
    <p:sldLayoutId id="2147484126" r:id="rId9"/>
    <p:sldLayoutId id="2147484127" r:id="rId10"/>
    <p:sldLayoutId id="2147484128" r:id="rId11"/>
    <p:sldLayoutId id="2147484129" r:id="rId12"/>
    <p:sldLayoutId id="2147484130" r:id="rId13"/>
    <p:sldLayoutId id="2147484131" r:id="rId14"/>
    <p:sldLayoutId id="2147484132" r:id="rId15"/>
    <p:sldLayoutId id="2147484133" r:id="rId16"/>
    <p:sldLayoutId id="2147484134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464" y="-8464"/>
            <a:ext cx="565575" cy="6874935"/>
            <a:chOff x="0" y="0"/>
            <a:chExt cx="1131151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097280" cy="13715999"/>
            </a:xfrm>
            <a:custGeom>
              <a:avLst/>
              <a:gdLst/>
              <a:ahLst/>
              <a:cxnLst/>
              <a:rect l="l" t="t" r="r" b="b"/>
              <a:pathLst>
                <a:path w="1097280" h="13715999">
                  <a:moveTo>
                    <a:pt x="0" y="0"/>
                  </a:moveTo>
                  <a:lnTo>
                    <a:pt x="1097280" y="0"/>
                  </a:lnTo>
                  <a:lnTo>
                    <a:pt x="109728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131062" cy="13749782"/>
            </a:xfrm>
            <a:custGeom>
              <a:avLst/>
              <a:gdLst/>
              <a:ahLst/>
              <a:cxnLst/>
              <a:rect l="l" t="t" r="r" b="b"/>
              <a:pathLst>
                <a:path w="1131062" h="1374978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13732890"/>
                  </a:lnTo>
                  <a:cubicBezTo>
                    <a:pt x="1131062" y="13742290"/>
                    <a:pt x="1123442" y="13749782"/>
                    <a:pt x="111417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114171" y="13716000"/>
                  </a:lnTo>
                  <a:lnTo>
                    <a:pt x="1114171" y="13732890"/>
                  </a:lnTo>
                  <a:lnTo>
                    <a:pt x="1097280" y="13732890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62096" y="381680"/>
            <a:ext cx="11355495" cy="77895"/>
            <a:chOff x="0" y="0"/>
            <a:chExt cx="22710991" cy="15579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2677119" cy="121920"/>
            </a:xfrm>
            <a:custGeom>
              <a:avLst/>
              <a:gdLst/>
              <a:ahLst/>
              <a:cxnLst/>
              <a:rect l="l" t="t" r="r" b="b"/>
              <a:pathLst>
                <a:path w="22677119" h="121920">
                  <a:moveTo>
                    <a:pt x="0" y="0"/>
                  </a:moveTo>
                  <a:lnTo>
                    <a:pt x="22677119" y="0"/>
                  </a:lnTo>
                  <a:lnTo>
                    <a:pt x="22677119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2710902" cy="155704"/>
            </a:xfrm>
            <a:custGeom>
              <a:avLst/>
              <a:gdLst/>
              <a:ahLst/>
              <a:cxnLst/>
              <a:rect l="l" t="t" r="r" b="b"/>
              <a:pathLst>
                <a:path w="22710902" h="155704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38811"/>
                  </a:lnTo>
                  <a:cubicBezTo>
                    <a:pt x="22710902" y="148209"/>
                    <a:pt x="22703282" y="155702"/>
                    <a:pt x="22694010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22694010" y="121920"/>
                  </a:lnTo>
                  <a:lnTo>
                    <a:pt x="22694010" y="138811"/>
                  </a:lnTo>
                  <a:lnTo>
                    <a:pt x="22677120" y="13881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792480" y="222550"/>
            <a:ext cx="10972800" cy="752810"/>
            <a:chOff x="0" y="-725330"/>
            <a:chExt cx="21945600" cy="1505618"/>
          </a:xfrm>
        </p:grpSpPr>
        <p:sp>
          <p:nvSpPr>
            <p:cNvPr id="9" name="Freeform 9"/>
            <p:cNvSpPr/>
            <p:nvPr/>
          </p:nvSpPr>
          <p:spPr>
            <a:xfrm>
              <a:off x="0" y="-725330"/>
              <a:ext cx="21945600" cy="1505618"/>
            </a:xfrm>
            <a:custGeom>
              <a:avLst/>
              <a:gdLst/>
              <a:ahLst/>
              <a:cxnLst/>
              <a:rect l="l" t="t" r="r" b="b"/>
              <a:pathLst>
                <a:path w="21945600" h="780288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016" b="-49801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760"/>
                </a:lnSpc>
              </a:pPr>
              <a:r>
                <a:rPr lang="en-US" sz="3600" b="1" spc="400" dirty="0">
                  <a:solidFill>
                    <a:srgbClr val="42A5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GROUP 2 PRESENTATION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92480" y="1072896"/>
            <a:ext cx="11216640" cy="1219200"/>
            <a:chOff x="0" y="0"/>
            <a:chExt cx="22433280" cy="2438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433280" cy="2438400"/>
            </a:xfrm>
            <a:custGeom>
              <a:avLst/>
              <a:gdLst/>
              <a:ahLst/>
              <a:cxnLst/>
              <a:rect l="l" t="t" r="r" b="b"/>
              <a:pathLst>
                <a:path w="22433280" h="2438400">
                  <a:moveTo>
                    <a:pt x="0" y="0"/>
                  </a:moveTo>
                  <a:lnTo>
                    <a:pt x="22433280" y="0"/>
                  </a:lnTo>
                  <a:lnTo>
                    <a:pt x="224332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262" b="-12926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2433280" cy="2486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640"/>
                </a:lnSpc>
              </a:pPr>
              <a:r>
                <a:rPr lang="en-US" sz="7200" b="1" spc="400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ANALYTICS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92480" y="2255520"/>
            <a:ext cx="11216640" cy="1036320"/>
            <a:chOff x="0" y="0"/>
            <a:chExt cx="22433280" cy="20726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433280" cy="2072640"/>
            </a:xfrm>
            <a:custGeom>
              <a:avLst/>
              <a:gdLst/>
              <a:ahLst/>
              <a:cxnLst/>
              <a:rect l="l" t="t" r="r" b="b"/>
              <a:pathLst>
                <a:path w="22433280" h="2072640">
                  <a:moveTo>
                    <a:pt x="0" y="0"/>
                  </a:moveTo>
                  <a:lnTo>
                    <a:pt x="22433280" y="0"/>
                  </a:lnTo>
                  <a:lnTo>
                    <a:pt x="224332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896" b="-160896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2433280" cy="2110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6400"/>
                </a:lnSpc>
              </a:pPr>
              <a:r>
                <a:rPr lang="en-US" sz="5334" b="1" spc="267" dirty="0">
                  <a:solidFill>
                    <a:srgbClr val="1E88E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PORTFOLIO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92480" y="3474720"/>
            <a:ext cx="10972800" cy="512064"/>
            <a:chOff x="0" y="0"/>
            <a:chExt cx="21945600" cy="10241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945600" cy="1024128"/>
            </a:xfrm>
            <a:custGeom>
              <a:avLst/>
              <a:gdLst/>
              <a:ahLst/>
              <a:cxnLst/>
              <a:rect l="l" t="t" r="r" b="b"/>
              <a:pathLst>
                <a:path w="21945600" h="1024128">
                  <a:moveTo>
                    <a:pt x="0" y="0"/>
                  </a:moveTo>
                  <a:lnTo>
                    <a:pt x="21945600" y="0"/>
                  </a:lnTo>
                  <a:lnTo>
                    <a:pt x="21945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21945600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560"/>
                </a:lnSpc>
              </a:pPr>
              <a:r>
                <a:rPr lang="en-US" sz="2133" dirty="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Excel  •  Power BI  •  Tableau  •  SQL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61" y="4141089"/>
            <a:ext cx="10745895" cy="65703"/>
            <a:chOff x="0" y="0"/>
            <a:chExt cx="21491791" cy="131407"/>
          </a:xfrm>
        </p:grpSpPr>
        <p:sp>
          <p:nvSpPr>
            <p:cNvPr id="21" name="Freeform 21"/>
            <p:cNvSpPr/>
            <p:nvPr/>
          </p:nvSpPr>
          <p:spPr>
            <a:xfrm>
              <a:off x="16891" y="16891"/>
              <a:ext cx="21457919" cy="97536"/>
            </a:xfrm>
            <a:custGeom>
              <a:avLst/>
              <a:gdLst/>
              <a:ahLst/>
              <a:cxnLst/>
              <a:rect l="l" t="t" r="r" b="b"/>
              <a:pathLst>
                <a:path w="21457919" h="97536">
                  <a:moveTo>
                    <a:pt x="0" y="0"/>
                  </a:moveTo>
                  <a:lnTo>
                    <a:pt x="21457919" y="0"/>
                  </a:lnTo>
                  <a:lnTo>
                    <a:pt x="2145791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21491702" cy="131320"/>
            </a:xfrm>
            <a:custGeom>
              <a:avLst/>
              <a:gdLst/>
              <a:ahLst/>
              <a:cxnLst/>
              <a:rect l="l" t="t" r="r" b="b"/>
              <a:pathLst>
                <a:path w="21491702" h="131320">
                  <a:moveTo>
                    <a:pt x="16891" y="0"/>
                  </a:moveTo>
                  <a:lnTo>
                    <a:pt x="21474810" y="0"/>
                  </a:lnTo>
                  <a:cubicBezTo>
                    <a:pt x="21484208" y="0"/>
                    <a:pt x="21491702" y="7620"/>
                    <a:pt x="21491702" y="16891"/>
                  </a:cubicBezTo>
                  <a:lnTo>
                    <a:pt x="21491702" y="114427"/>
                  </a:lnTo>
                  <a:cubicBezTo>
                    <a:pt x="21491702" y="123825"/>
                    <a:pt x="21484082" y="131318"/>
                    <a:pt x="2147481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1474810" y="97536"/>
                  </a:lnTo>
                  <a:lnTo>
                    <a:pt x="21474810" y="114427"/>
                  </a:lnTo>
                  <a:lnTo>
                    <a:pt x="21457920" y="114427"/>
                  </a:lnTo>
                  <a:lnTo>
                    <a:pt x="21457920" y="16891"/>
                  </a:lnTo>
                  <a:lnTo>
                    <a:pt x="21474810" y="16891"/>
                  </a:lnTo>
                  <a:lnTo>
                    <a:pt x="214748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E4A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792480" y="4389120"/>
            <a:ext cx="1950720" cy="426720"/>
            <a:chOff x="0" y="0"/>
            <a:chExt cx="3901440" cy="8534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901440" cy="853440"/>
            </a:xfrm>
            <a:custGeom>
              <a:avLst/>
              <a:gdLst/>
              <a:ahLst/>
              <a:cxnLst/>
              <a:rect l="l" t="t" r="r" b="b"/>
              <a:pathLst>
                <a:path w="3901440" h="853440">
                  <a:moveTo>
                    <a:pt x="0" y="0"/>
                  </a:moveTo>
                  <a:lnTo>
                    <a:pt x="3901440" y="0"/>
                  </a:lnTo>
                  <a:lnTo>
                    <a:pt x="3901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074" b="-39074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90144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919"/>
                </a:lnSpc>
              </a:pPr>
              <a:r>
                <a:rPr lang="en-US" sz="1600" b="1">
                  <a:solidFill>
                    <a:srgbClr val="42A5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Presented by: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263945" y="4389120"/>
            <a:ext cx="9623255" cy="445770"/>
            <a:chOff x="-714670" y="0"/>
            <a:chExt cx="19246509" cy="8915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8531839" cy="853440"/>
            </a:xfrm>
            <a:custGeom>
              <a:avLst/>
              <a:gdLst/>
              <a:ahLst/>
              <a:cxnLst/>
              <a:rect l="l" t="t" r="r" b="b"/>
              <a:pathLst>
                <a:path w="18531839" h="853440">
                  <a:moveTo>
                    <a:pt x="0" y="0"/>
                  </a:moveTo>
                  <a:lnTo>
                    <a:pt x="18531839" y="0"/>
                  </a:lnTo>
                  <a:lnTo>
                    <a:pt x="185318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3103" b="-37310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-714670" y="0"/>
              <a:ext cx="1853184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919"/>
                </a:lnSpc>
              </a:pPr>
              <a:r>
                <a:rPr lang="en-US" sz="1600" dirty="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Om Haraniya 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92461" y="5096256"/>
            <a:ext cx="9144000" cy="390144"/>
            <a:chOff x="0" y="0"/>
            <a:chExt cx="18288000" cy="78028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8288000" cy="780288"/>
            </a:xfrm>
            <a:custGeom>
              <a:avLst/>
              <a:gdLst/>
              <a:ahLst/>
              <a:cxnLst/>
              <a:rect l="l" t="t" r="r" b="b"/>
              <a:pathLst>
                <a:path w="18288000" h="780288">
                  <a:moveTo>
                    <a:pt x="0" y="0"/>
                  </a:moveTo>
                  <a:lnTo>
                    <a:pt x="18288000" y="0"/>
                  </a:lnTo>
                  <a:lnTo>
                    <a:pt x="18288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680" b="-406680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828800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00"/>
                </a:lnSpc>
              </a:pPr>
              <a:r>
                <a:rPr lang="en-US" sz="1333">
                  <a:solidFill>
                    <a:srgbClr val="3747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ExcelR Data Analytics Training  |  Capstone Projects  |  2026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-8464" y="6782480"/>
            <a:ext cx="12208935" cy="83991"/>
            <a:chOff x="0" y="0"/>
            <a:chExt cx="24417871" cy="167983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24383999" cy="134112"/>
            </a:xfrm>
            <a:custGeom>
              <a:avLst/>
              <a:gdLst/>
              <a:ahLst/>
              <a:cxnLst/>
              <a:rect l="l" t="t" r="r" b="b"/>
              <a:pathLst>
                <a:path w="24383999" h="134112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24417782" cy="167896"/>
            </a:xfrm>
            <a:custGeom>
              <a:avLst/>
              <a:gdLst/>
              <a:ahLst/>
              <a:cxnLst/>
              <a:rect l="l" t="t" r="r" b="b"/>
              <a:pathLst>
                <a:path w="24417782" h="167896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</p:spTree>
    <p:extLst>
      <p:ext uri="{BB962C8B-B14F-4D97-AF65-F5344CB8AC3E}">
        <p14:creationId xmlns:p14="http://schemas.microsoft.com/office/powerpoint/2010/main" val="10801486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142093" y="266700"/>
            <a:ext cx="9817828" cy="892399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                                                         </a:t>
            </a:r>
            <a:br>
              <a:rPr lang="en-IN" dirty="0"/>
            </a:br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241376" y="1390918"/>
            <a:ext cx="11619261" cy="470722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lnSpc>
                <a:spcPct val="110000"/>
              </a:lnSpc>
            </a:pPr>
            <a:endParaRPr lang="en-IN" sz="2000" b="1" dirty="0">
              <a:solidFill>
                <a:srgbClr val="FFFF00"/>
              </a:solidFill>
            </a:endParaRPr>
          </a:p>
          <a:p>
            <a:pPr algn="l">
              <a:lnSpc>
                <a:spcPct val="110000"/>
              </a:lnSpc>
            </a:pPr>
            <a:endParaRPr lang="en-IN" sz="2000" b="1" dirty="0">
              <a:solidFill>
                <a:srgbClr val="FFFF00"/>
              </a:solidFill>
            </a:endParaRPr>
          </a:p>
          <a:p>
            <a:pPr algn="l">
              <a:lnSpc>
                <a:spcPct val="110000"/>
              </a:lnSpc>
            </a:pPr>
            <a:endParaRPr lang="en-IN" sz="2000" b="1" dirty="0">
              <a:solidFill>
                <a:srgbClr val="FFFF00"/>
              </a:solidFill>
            </a:endParaRPr>
          </a:p>
          <a:p>
            <a:pPr algn="l">
              <a:lnSpc>
                <a:spcPct val="110000"/>
              </a:lnSpc>
            </a:pPr>
            <a:r>
              <a:rPr lang="en-IN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Domain : BANK DATA ANALYSTICS</a:t>
            </a:r>
          </a:p>
          <a:p>
            <a:pPr algn="l">
              <a:lnSpc>
                <a:spcPct val="110000"/>
              </a:lnSpc>
            </a:pPr>
            <a:endParaRPr lang="en-IN" sz="2000" dirty="0">
              <a:solidFill>
                <a:schemeClr val="tx1"/>
              </a:solidFill>
            </a:endParaRPr>
          </a:p>
          <a:p>
            <a:pPr algn="l">
              <a:lnSpc>
                <a:spcPct val="110000"/>
              </a:lnSpc>
            </a:pPr>
            <a:r>
              <a:rPr lang="en-US" sz="2000" b="1" dirty="0">
                <a:solidFill>
                  <a:srgbClr val="FFFF00"/>
                </a:solidFill>
              </a:rPr>
              <a:t>Company Overview </a:t>
            </a:r>
            <a:r>
              <a:rPr lang="en-US" sz="2000" dirty="0"/>
              <a:t>: </a:t>
            </a:r>
            <a:r>
              <a:rPr lang="en-US" sz="2000" dirty="0">
                <a:effectLst/>
              </a:rPr>
              <a:t>Banking analytics is the process of </a:t>
            </a:r>
            <a:r>
              <a:rPr lang="en-US" sz="2000" b="1" dirty="0">
                <a:effectLst/>
              </a:rPr>
              <a:t>collecting, analyzing, and interpreting data</a:t>
            </a:r>
            <a:r>
              <a:rPr lang="en-US" sz="2000" dirty="0">
                <a:effectLst/>
              </a:rPr>
              <a:t> within the banking industry </a:t>
            </a:r>
          </a:p>
          <a:p>
            <a:pPr algn="l">
              <a:lnSpc>
                <a:spcPct val="110000"/>
              </a:lnSpc>
            </a:pPr>
            <a:endParaRPr lang="en-US" sz="2000" dirty="0">
              <a:effectLst/>
            </a:endParaRPr>
          </a:p>
          <a:p>
            <a:pPr algn="l">
              <a:lnSpc>
                <a:spcPct val="110000"/>
              </a:lnSpc>
            </a:pPr>
            <a:r>
              <a:rPr lang="en-US" sz="2000" b="1" dirty="0">
                <a:solidFill>
                  <a:srgbClr val="FFFF00"/>
                </a:solidFill>
              </a:rPr>
              <a:t>Business Problem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/>
              <a:t>: </a:t>
            </a:r>
            <a:r>
              <a:rPr lang="en-US" sz="2000" dirty="0">
                <a:effectLst/>
              </a:rPr>
              <a:t>Bank data analytics tackles critical challenges like fraud detection, regulatory compliance, risk management, and achieving a 360-degree customer view, often hindered by legacy systems and data quality issues</a:t>
            </a:r>
            <a:r>
              <a:rPr lang="en-US" sz="2000" dirty="0"/>
              <a:t>.</a:t>
            </a:r>
          </a:p>
          <a:p>
            <a:pPr algn="l">
              <a:lnSpc>
                <a:spcPct val="110000"/>
              </a:lnSpc>
            </a:pPr>
            <a:endParaRPr lang="en-US" sz="2000" dirty="0"/>
          </a:p>
          <a:p>
            <a:pPr algn="l">
              <a:lnSpc>
                <a:spcPct val="110000"/>
              </a:lnSpc>
            </a:pPr>
            <a:r>
              <a:rPr lang="en-US" sz="2000" b="1" dirty="0">
                <a:solidFill>
                  <a:srgbClr val="FFFF00"/>
                </a:solidFill>
              </a:rPr>
              <a:t>Goal</a:t>
            </a:r>
            <a:r>
              <a:rPr lang="en-US" sz="2000" dirty="0"/>
              <a:t> :  Aims to improve profitability and reduce risk by leveraging customer data for personalized experiences, real-time fraud detection, and optimized lending decisions..</a:t>
            </a:r>
          </a:p>
          <a:p>
            <a:pPr algn="l">
              <a:lnSpc>
                <a:spcPct val="110000"/>
              </a:lnSpc>
            </a:pPr>
            <a:endParaRPr lang="en-US" sz="2000" dirty="0"/>
          </a:p>
          <a:p>
            <a:pPr algn="l">
              <a:lnSpc>
                <a:spcPct val="110000"/>
              </a:lnSpc>
            </a:pPr>
            <a:r>
              <a:rPr lang="en-US" sz="2000" b="1" dirty="0">
                <a:solidFill>
                  <a:srgbClr val="FFFF00"/>
                </a:solidFill>
              </a:rPr>
              <a:t>Focus</a:t>
            </a:r>
            <a:r>
              <a:rPr lang="en-US" sz="2000" dirty="0"/>
              <a:t> : leveraging data to enhance customer experience, optimize operational efficiency, manage risks, and combat fraud.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095831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142093" y="266700"/>
            <a:ext cx="9817828" cy="892399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                                                         </a:t>
            </a:r>
            <a:br>
              <a:rPr lang="en-IN" dirty="0"/>
            </a:br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241376" y="1390918"/>
            <a:ext cx="11620066" cy="51515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lnSpc>
                <a:spcPct val="110000"/>
              </a:lnSpc>
            </a:pPr>
            <a:endParaRPr lang="en-IN" sz="1800" b="1" dirty="0">
              <a:solidFill>
                <a:srgbClr val="FFFF00"/>
              </a:solidFill>
            </a:endParaRPr>
          </a:p>
          <a:p>
            <a:pPr algn="l">
              <a:lnSpc>
                <a:spcPct val="110000"/>
              </a:lnSpc>
            </a:pPr>
            <a:endParaRPr lang="en-IN" sz="1800" b="1" dirty="0">
              <a:solidFill>
                <a:srgbClr val="FFFF00"/>
              </a:solidFill>
            </a:endParaRPr>
          </a:p>
          <a:p>
            <a:pPr algn="l">
              <a:lnSpc>
                <a:spcPct val="110000"/>
              </a:lnSpc>
            </a:pPr>
            <a:endParaRPr lang="en-IN" sz="1800" b="1" dirty="0">
              <a:solidFill>
                <a:srgbClr val="FFFF00"/>
              </a:solidFill>
            </a:endParaRPr>
          </a:p>
          <a:p>
            <a:pPr algn="l">
              <a:lnSpc>
                <a:spcPct val="110000"/>
              </a:lnSpc>
            </a:pPr>
            <a:r>
              <a:rPr lang="en-IN" sz="1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Domain : </a:t>
            </a:r>
            <a:r>
              <a:rPr lang="en-IN" sz="1800" b="1" dirty="0">
                <a:solidFill>
                  <a:schemeClr val="accent5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DEBIT AND CREDIT BANKING DATA</a:t>
            </a:r>
          </a:p>
          <a:p>
            <a:pPr algn="l">
              <a:lnSpc>
                <a:spcPct val="110000"/>
              </a:lnSpc>
            </a:pPr>
            <a:endParaRPr lang="en-IN" sz="1800" dirty="0">
              <a:solidFill>
                <a:schemeClr val="tx1"/>
              </a:solidFill>
            </a:endParaRPr>
          </a:p>
          <a:p>
            <a:pPr algn="l">
              <a:lnSpc>
                <a:spcPct val="110000"/>
              </a:lnSpc>
            </a:pPr>
            <a:r>
              <a:rPr lang="en-US" sz="1800" b="1" dirty="0">
                <a:solidFill>
                  <a:srgbClr val="FFFF00"/>
                </a:solidFill>
              </a:rPr>
              <a:t>Company Overview </a:t>
            </a:r>
            <a:r>
              <a:rPr lang="en-US" sz="1800" dirty="0"/>
              <a:t>: </a:t>
            </a:r>
            <a:r>
              <a:rPr lang="en-US" sz="1800" b="1" dirty="0">
                <a:effectLst/>
              </a:rPr>
              <a:t>Debits and credits</a:t>
            </a:r>
            <a:r>
              <a:rPr lang="en-US" sz="1800" dirty="0">
                <a:effectLst/>
              </a:rPr>
              <a:t> are the foundation of double-entry accounting, used to track financial transactions by recording them on the left (debit) or right (credit) side of a ledger, ensuring total debits equal total credits.</a:t>
            </a:r>
          </a:p>
          <a:p>
            <a:pPr algn="l">
              <a:lnSpc>
                <a:spcPct val="110000"/>
              </a:lnSpc>
            </a:pPr>
            <a:endParaRPr lang="en-US" sz="1800" dirty="0">
              <a:effectLst/>
            </a:endParaRPr>
          </a:p>
          <a:p>
            <a:pPr algn="l">
              <a:lnSpc>
                <a:spcPct val="110000"/>
              </a:lnSpc>
            </a:pPr>
            <a:r>
              <a:rPr lang="en-US" sz="1800" b="1" dirty="0">
                <a:solidFill>
                  <a:srgbClr val="FFFF00"/>
                </a:solidFill>
              </a:rPr>
              <a:t>Business Problem</a:t>
            </a:r>
            <a:r>
              <a:rPr lang="en-US" sz="1800" dirty="0">
                <a:solidFill>
                  <a:srgbClr val="FFFF00"/>
                </a:solidFill>
              </a:rPr>
              <a:t> </a:t>
            </a:r>
            <a:r>
              <a:rPr lang="en-US" sz="1800" dirty="0"/>
              <a:t>: The business problems related to debit and credit banking data center on ensuring </a:t>
            </a:r>
            <a:r>
              <a:rPr lang="en-US" sz="1800" b="1" dirty="0">
                <a:effectLst/>
              </a:rPr>
              <a:t>data quality</a:t>
            </a:r>
            <a:r>
              <a:rPr lang="en-US" sz="1800" dirty="0">
                <a:effectLst/>
              </a:rPr>
              <a:t>, managing massive </a:t>
            </a:r>
            <a:r>
              <a:rPr lang="en-US" sz="1800" b="1" dirty="0">
                <a:effectLst/>
              </a:rPr>
              <a:t>transaction volumes</a:t>
            </a:r>
            <a:r>
              <a:rPr lang="en-US" sz="1800" dirty="0">
                <a:effectLst/>
              </a:rPr>
              <a:t>, and complying with strict </a:t>
            </a:r>
            <a:r>
              <a:rPr lang="en-US" sz="1800" b="1" dirty="0">
                <a:effectLst/>
              </a:rPr>
              <a:t>regulatory requirements</a:t>
            </a:r>
            <a:r>
              <a:rPr lang="en-US" sz="1800" dirty="0">
                <a:effectLst/>
              </a:rPr>
              <a:t>.</a:t>
            </a:r>
          </a:p>
          <a:p>
            <a:pPr algn="l">
              <a:lnSpc>
                <a:spcPct val="110000"/>
              </a:lnSpc>
            </a:pPr>
            <a:endParaRPr lang="en-US" sz="1800" dirty="0"/>
          </a:p>
          <a:p>
            <a:pPr algn="l">
              <a:lnSpc>
                <a:spcPct val="110000"/>
              </a:lnSpc>
            </a:pPr>
            <a:r>
              <a:rPr lang="en-US" sz="1800" b="1" dirty="0">
                <a:solidFill>
                  <a:srgbClr val="FFFF00"/>
                </a:solidFill>
              </a:rPr>
              <a:t>Goal</a:t>
            </a:r>
            <a:r>
              <a:rPr lang="en-US" sz="1800" dirty="0"/>
              <a:t> :  The primary goal of debit and credit banking data is to accurately track the flow of money into and out of accounts, maintaining a balanced, chronological, and secure record of all financial transactions</a:t>
            </a:r>
            <a:r>
              <a:rPr lang="en-US" sz="1800" dirty="0">
                <a:effectLst/>
              </a:rPr>
              <a:t>.</a:t>
            </a:r>
          </a:p>
          <a:p>
            <a:pPr algn="l">
              <a:lnSpc>
                <a:spcPct val="110000"/>
              </a:lnSpc>
            </a:pPr>
            <a:endParaRPr lang="en-US" sz="1800" dirty="0"/>
          </a:p>
          <a:p>
            <a:pPr algn="l">
              <a:lnSpc>
                <a:spcPct val="110000"/>
              </a:lnSpc>
            </a:pPr>
            <a:r>
              <a:rPr lang="en-US" sz="1800" b="1" dirty="0">
                <a:solidFill>
                  <a:srgbClr val="FFFF00"/>
                </a:solidFill>
              </a:rPr>
              <a:t>Focus</a:t>
            </a:r>
            <a:r>
              <a:rPr lang="en-US" sz="1800" dirty="0"/>
              <a:t> : Debit and credit banking data focuses on tracking the flow of funds to analyze customer behavior, cash flow, and financial health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082731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190389" y="211197"/>
            <a:ext cx="9808169" cy="909265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Process</a:t>
            </a:r>
          </a:p>
        </p:txBody>
      </p:sp>
      <p:sp>
        <p:nvSpPr>
          <p:cNvPr id="2" name="Rectangle 1"/>
          <p:cNvSpPr/>
          <p:nvPr/>
        </p:nvSpPr>
        <p:spPr>
          <a:xfrm>
            <a:off x="626772" y="1120462"/>
            <a:ext cx="876192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Data collection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0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+mj-lt"/>
              </a:rPr>
              <a:t>Data cleaning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0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+mj-lt"/>
              </a:rPr>
              <a:t>Created new columns to find out </a:t>
            </a:r>
            <a:r>
              <a:rPr lang="en-IN" sz="2000" dirty="0" err="1">
                <a:latin typeface="+mj-lt"/>
              </a:rPr>
              <a:t>Principal+Int</a:t>
            </a:r>
            <a:r>
              <a:rPr lang="en-IN" sz="2000" dirty="0">
                <a:latin typeface="+mj-lt"/>
              </a:rPr>
              <a:t> </a:t>
            </a:r>
            <a:r>
              <a:rPr lang="en-IN" sz="2000" dirty="0" err="1">
                <a:latin typeface="+mj-lt"/>
              </a:rPr>
              <a:t>rd</a:t>
            </a:r>
            <a:endParaRPr lang="en-IN" sz="20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0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+mj-lt"/>
              </a:rPr>
              <a:t>Created new </a:t>
            </a:r>
            <a:r>
              <a:rPr lang="en-IN" sz="2000" dirty="0"/>
              <a:t>columns</a:t>
            </a:r>
            <a:r>
              <a:rPr lang="en-IN" sz="2000" dirty="0">
                <a:latin typeface="+mj-lt"/>
              </a:rPr>
              <a:t> </a:t>
            </a:r>
            <a:r>
              <a:rPr lang="en-IN" sz="2000" dirty="0"/>
              <a:t>to find out  </a:t>
            </a:r>
            <a:r>
              <a:rPr lang="en-US" sz="2000" dirty="0">
                <a:latin typeface="+mj-lt"/>
              </a:rPr>
              <a:t>Total Amount </a:t>
            </a:r>
            <a:r>
              <a:rPr lang="en-US" sz="2000" dirty="0" err="1">
                <a:latin typeface="+mj-lt"/>
              </a:rPr>
              <a:t>rd</a:t>
            </a:r>
            <a:r>
              <a:rPr lang="en-US" sz="2000" dirty="0">
                <a:latin typeface="+mj-lt"/>
              </a:rPr>
              <a:t> with </a:t>
            </a:r>
            <a:r>
              <a:rPr lang="en-US" sz="2000" dirty="0" err="1">
                <a:latin typeface="+mj-lt"/>
              </a:rPr>
              <a:t>int</a:t>
            </a:r>
            <a:r>
              <a:rPr lang="en-US" sz="2000" dirty="0">
                <a:latin typeface="+mj-lt"/>
              </a:rPr>
              <a:t>, fees, </a:t>
            </a:r>
            <a:r>
              <a:rPr lang="en-US" sz="2000" dirty="0" err="1">
                <a:latin typeface="+mj-lt"/>
              </a:rPr>
              <a:t>pricipal</a:t>
            </a:r>
            <a:r>
              <a:rPr lang="en-US" sz="2000" dirty="0">
                <a:latin typeface="+mj-lt"/>
              </a:rPr>
              <a:t> amount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0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+mj-lt"/>
              </a:rPr>
              <a:t>Formula used to find out </a:t>
            </a:r>
            <a:r>
              <a:rPr lang="en-US" sz="2000" dirty="0" err="1">
                <a:latin typeface="+mj-lt"/>
              </a:rPr>
              <a:t>HighRisk_Flags</a:t>
            </a:r>
            <a:r>
              <a:rPr lang="en-US" sz="2000" dirty="0">
                <a:latin typeface="+mj-lt"/>
              </a:rPr>
              <a:t> </a:t>
            </a:r>
            <a:endParaRPr lang="en-IN" sz="2000" dirty="0">
              <a:latin typeface="+mj-lt"/>
            </a:endParaRPr>
          </a:p>
          <a:p>
            <a:endParaRPr lang="en-IN" sz="20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+mj-lt"/>
              </a:rPr>
              <a:t>Extraction of Insights</a:t>
            </a:r>
          </a:p>
        </p:txBody>
      </p:sp>
      <p:pic>
        <p:nvPicPr>
          <p:cNvPr id="4" name="Picture 3" descr="A logo of a server&#10;&#10;AI-generated content may be incorrect.">
            <a:extLst>
              <a:ext uri="{FF2B5EF4-FFF2-40B4-BE49-F238E27FC236}">
                <a16:creationId xmlns:a16="http://schemas.microsoft.com/office/drawing/2014/main" id="{402752CE-F084-5C8D-A1DF-F85313AF96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921" y="262713"/>
            <a:ext cx="1342412" cy="108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7623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293420" y="391501"/>
            <a:ext cx="9440034" cy="844872"/>
          </a:xfrm>
        </p:spPr>
        <p:txBody>
          <a:bodyPr>
            <a:normAutofit/>
          </a:bodyPr>
          <a:lstStyle/>
          <a:p>
            <a:r>
              <a:rPr lang="en-IN" sz="4400" dirty="0"/>
              <a:t>Objectives :KPI</a:t>
            </a:r>
          </a:p>
        </p:txBody>
      </p:sp>
      <p:sp>
        <p:nvSpPr>
          <p:cNvPr id="2" name="Rectangle 1"/>
          <p:cNvSpPr/>
          <p:nvPr/>
        </p:nvSpPr>
        <p:spPr>
          <a:xfrm>
            <a:off x="296214" y="1554641"/>
            <a:ext cx="11153104" cy="51060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Transactions analysis (Day-wise, Week-wise, </a:t>
            </a:r>
            <a:r>
              <a:rPr lang="en-US" dirty="0"/>
              <a:t>Month</a:t>
            </a:r>
            <a:r>
              <a:rPr lang="en-US" dirty="0">
                <a:latin typeface="+mj-lt"/>
              </a:rPr>
              <a:t>-wise)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Comparison of Total amount vs Branch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Profitability analysis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Identification of top-performing Months and Product group wise loan funded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High Risk </a:t>
            </a:r>
            <a:r>
              <a:rPr lang="en-US" dirty="0"/>
              <a:t>analysis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Shows disbursement Trend</a:t>
            </a:r>
            <a:endParaRPr lang="en-US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Region wise sales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Top Bank by Volume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Top Branch by Volume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Bank Wise Loan Summary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Identifies transaction method distributions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Top performing City, State.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Age group wise analysis	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Religion wise </a:t>
            </a:r>
            <a:r>
              <a:rPr lang="en-US" dirty="0"/>
              <a:t>analysis</a:t>
            </a:r>
          </a:p>
          <a:p>
            <a:endParaRPr lang="en-US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dirty="0">
              <a:latin typeface="+mj-lt"/>
            </a:endParaRPr>
          </a:p>
          <a:p>
            <a:pPr>
              <a:lnSpc>
                <a:spcPct val="110000"/>
              </a:lnSpc>
            </a:pPr>
            <a:endParaRPr lang="en-IN" dirty="0">
              <a:latin typeface="+mj-lt"/>
            </a:endParaRPr>
          </a:p>
        </p:txBody>
      </p:sp>
      <p:pic>
        <p:nvPicPr>
          <p:cNvPr id="4" name="Picture 3" descr="A magnifying glass over a graph&#10;&#10;AI-generated content may be incorrect.">
            <a:extLst>
              <a:ext uri="{FF2B5EF4-FFF2-40B4-BE49-F238E27FC236}">
                <a16:creationId xmlns:a16="http://schemas.microsoft.com/office/drawing/2014/main" id="{5CB6BF48-3345-F991-0507-55969505E9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8706" y="234830"/>
            <a:ext cx="1773220" cy="172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0518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21442" y="167425"/>
            <a:ext cx="9692260" cy="764989"/>
          </a:xfrm>
        </p:spPr>
        <p:txBody>
          <a:bodyPr>
            <a:normAutofit fontScale="90000"/>
          </a:bodyPr>
          <a:lstStyle/>
          <a:p>
            <a:pPr marL="457200" indent="-457200"/>
            <a:r>
              <a:rPr lang="en-US" sz="2800" b="0" dirty="0"/>
              <a:t>Transactions analysis (Day-wise, Week-wise, Month-wise)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69" y="1547860"/>
            <a:ext cx="5410200" cy="35433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40699" y="2070298"/>
            <a:ext cx="534043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Analysis: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Column Chart:  Which represents total number of transactions Volumes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endParaRPr lang="en-US" dirty="0">
              <a:solidFill>
                <a:schemeClr val="tx1">
                  <a:lumMod val="95000"/>
                </a:schemeClr>
              </a:solidFill>
              <a:latin typeface="+mj-lt"/>
            </a:endParaRP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Insight: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• May is the busiest month by transaction count, while Jan leads by total value.	</a:t>
            </a:r>
          </a:p>
        </p:txBody>
      </p:sp>
    </p:spTree>
    <p:extLst>
      <p:ext uri="{BB962C8B-B14F-4D97-AF65-F5344CB8AC3E}">
        <p14:creationId xmlns:p14="http://schemas.microsoft.com/office/powerpoint/2010/main" val="18520287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894175" y="334851"/>
            <a:ext cx="9440034" cy="494533"/>
          </a:xfrm>
        </p:spPr>
        <p:txBody>
          <a:bodyPr>
            <a:normAutofit/>
          </a:bodyPr>
          <a:lstStyle/>
          <a:p>
            <a:pPr marL="457200" indent="-457200"/>
            <a:r>
              <a:rPr lang="en-US" sz="2500" b="0" dirty="0"/>
              <a:t>TOP PERFORMING Branch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74" y="1460813"/>
            <a:ext cx="6029325" cy="35242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9689" y="1967267"/>
            <a:ext cx="497553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Analysis: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Line Chart:  Which represents total number of transactions amount by each branch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endParaRPr lang="en-US" dirty="0">
              <a:solidFill>
                <a:schemeClr val="tx1">
                  <a:lumMod val="95000"/>
                </a:schemeClr>
              </a:solidFill>
              <a:latin typeface="+mj-lt"/>
            </a:endParaRP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Insight: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• City Centre Branch leads to highest in transactions.</a:t>
            </a:r>
          </a:p>
        </p:txBody>
      </p:sp>
    </p:spTree>
    <p:extLst>
      <p:ext uri="{BB962C8B-B14F-4D97-AF65-F5344CB8AC3E}">
        <p14:creationId xmlns:p14="http://schemas.microsoft.com/office/powerpoint/2010/main" val="4120947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84654" y="566669"/>
            <a:ext cx="11116179" cy="625095"/>
          </a:xfrm>
        </p:spPr>
        <p:txBody>
          <a:bodyPr>
            <a:normAutofit/>
          </a:bodyPr>
          <a:lstStyle/>
          <a:p>
            <a:pPr marL="457200" indent="-457200"/>
            <a:r>
              <a:rPr lang="en-US" sz="2400" dirty="0"/>
              <a:t>Product group wise loan funded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06" y="1854557"/>
            <a:ext cx="6001705" cy="35674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72724" y="2360835"/>
            <a:ext cx="4728109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Analysis: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Line Chart:  Which represents Product, group wise loan funded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Insight: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• According to this analysis,  Bank have funded more loans to Home Loan customer which plays a Big role when compared to other loan funded</a:t>
            </a:r>
          </a:p>
        </p:txBody>
      </p:sp>
    </p:spTree>
    <p:extLst>
      <p:ext uri="{BB962C8B-B14F-4D97-AF65-F5344CB8AC3E}">
        <p14:creationId xmlns:p14="http://schemas.microsoft.com/office/powerpoint/2010/main" val="39429809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0869" y="218942"/>
            <a:ext cx="9001462" cy="728126"/>
          </a:xfrm>
        </p:spPr>
        <p:txBody>
          <a:bodyPr>
            <a:normAutofit/>
          </a:bodyPr>
          <a:lstStyle/>
          <a:p>
            <a:pPr marL="457200" indent="-457200"/>
            <a:r>
              <a:rPr lang="en-US" sz="2500" b="0" dirty="0"/>
              <a:t>High Risk analysis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63" y="1545465"/>
            <a:ext cx="6148051" cy="328555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04337" y="1735447"/>
            <a:ext cx="506998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Analysis: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Pie Chart:  Which represents High-Risk transactions done by the customers. 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Frequent customer disputes for refunds, often seen as a liability.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defRPr sz="1600">
                <a:solidFill>
                  <a:srgbClr val="3C3C3C"/>
                </a:solidFill>
              </a:defRPr>
            </a:pP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Insight: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• According to this analysis,  High-risk transaction account for 10%  from the total transaction.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3372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526322" y="167425"/>
            <a:ext cx="9001462" cy="650853"/>
          </a:xfrm>
        </p:spPr>
        <p:txBody>
          <a:bodyPr>
            <a:normAutofit/>
          </a:bodyPr>
          <a:lstStyle/>
          <a:p>
            <a:r>
              <a:rPr lang="en-US" sz="2500" dirty="0"/>
              <a:t>ANALYSIS OF Suspicious transaction</a:t>
            </a:r>
            <a:endParaRPr lang="en-IN" sz="25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14" y="1062372"/>
            <a:ext cx="10755571" cy="27241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93442" y="4030616"/>
            <a:ext cx="907101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Analysis: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Line Chart: This shows suspicious transactions made by month. 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Insight: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• This study reveals that January has the largest number of suspicious transactions (987), while December has the lowest number of suspicious transactions. This shows suspicious transactions made by month. </a:t>
            </a:r>
          </a:p>
        </p:txBody>
      </p:sp>
    </p:spTree>
    <p:extLst>
      <p:ext uri="{BB962C8B-B14F-4D97-AF65-F5344CB8AC3E}">
        <p14:creationId xmlns:p14="http://schemas.microsoft.com/office/powerpoint/2010/main" val="20385152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06627" y="386364"/>
            <a:ext cx="9001462" cy="702369"/>
          </a:xfrm>
        </p:spPr>
        <p:txBody>
          <a:bodyPr>
            <a:normAutofit/>
          </a:bodyPr>
          <a:lstStyle/>
          <a:p>
            <a:pPr marL="457200" indent="-457200"/>
            <a:r>
              <a:rPr lang="en-US" sz="2800" dirty="0"/>
              <a:t>bank Wise Loan Summary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0000000-0008-0000-07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0740804"/>
              </p:ext>
            </p:extLst>
          </p:nvPr>
        </p:nvGraphicFramePr>
        <p:xfrm>
          <a:off x="411318" y="1476910"/>
          <a:ext cx="7290247" cy="4447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7813183" y="2559696"/>
            <a:ext cx="402250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Analysis: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Bar Chart:  Which represents Bank wise loan funded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Insight: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• According to this analysis, 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Kotak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Mahindra Bank funded more loans when compared to other banks</a:t>
            </a:r>
          </a:p>
        </p:txBody>
      </p:sp>
    </p:spTree>
    <p:extLst>
      <p:ext uri="{BB962C8B-B14F-4D97-AF65-F5344CB8AC3E}">
        <p14:creationId xmlns:p14="http://schemas.microsoft.com/office/powerpoint/2010/main" val="36380443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54547" y="167425"/>
            <a:ext cx="11410681" cy="753884"/>
          </a:xfrm>
        </p:spPr>
        <p:txBody>
          <a:bodyPr>
            <a:normAutofit/>
          </a:bodyPr>
          <a:lstStyle/>
          <a:p>
            <a:pPr marL="457200" indent="-457200"/>
            <a:r>
              <a:rPr lang="en-US" sz="2800" dirty="0"/>
              <a:t>Identifies transaction method distributions </a:t>
            </a: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3936004"/>
              </p:ext>
            </p:extLst>
          </p:nvPr>
        </p:nvGraphicFramePr>
        <p:xfrm>
          <a:off x="510459" y="1544324"/>
          <a:ext cx="6740347" cy="4173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336665" y="1819922"/>
            <a:ext cx="467932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Analysis: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Column Chart:  Which represents transaction method distribution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Insight: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This study reveals that Debit Card has the largest number of transactions, while Bank Transfer has the lowest number of transactions. </a:t>
            </a:r>
          </a:p>
        </p:txBody>
      </p:sp>
    </p:spTree>
    <p:extLst>
      <p:ext uri="{BB962C8B-B14F-4D97-AF65-F5344CB8AC3E}">
        <p14:creationId xmlns:p14="http://schemas.microsoft.com/office/powerpoint/2010/main" val="15661894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977083" y="309093"/>
            <a:ext cx="9001462" cy="573580"/>
          </a:xfrm>
        </p:spPr>
        <p:txBody>
          <a:bodyPr>
            <a:normAutofit/>
          </a:bodyPr>
          <a:lstStyle/>
          <a:p>
            <a:pPr marL="457200" indent="-457200"/>
            <a:r>
              <a:rPr lang="en-US" sz="2800" dirty="0"/>
              <a:t>Religion wise analysis 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360216"/>
              </p:ext>
            </p:extLst>
          </p:nvPr>
        </p:nvGraphicFramePr>
        <p:xfrm>
          <a:off x="692842" y="1650609"/>
          <a:ext cx="5733716" cy="3655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096000" y="4394174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Analysis: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Pie Chart:  Which represents Religion wise loan distribution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Insight: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This study reveals that Hindu Religion has taken more fund while other religion has the lowest loan amount distributions. </a:t>
            </a:r>
          </a:p>
        </p:txBody>
      </p:sp>
    </p:spTree>
    <p:extLst>
      <p:ext uri="{BB962C8B-B14F-4D97-AF65-F5344CB8AC3E}">
        <p14:creationId xmlns:p14="http://schemas.microsoft.com/office/powerpoint/2010/main" val="35958052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183145" y="309093"/>
            <a:ext cx="9001462" cy="625095"/>
          </a:xfrm>
        </p:spPr>
        <p:txBody>
          <a:bodyPr>
            <a:normAutofit/>
          </a:bodyPr>
          <a:lstStyle/>
          <a:p>
            <a:pPr marL="457200" indent="-457200"/>
            <a:r>
              <a:rPr lang="en-US" sz="3600" dirty="0"/>
              <a:t>Age group wise analysis	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5938502"/>
              </p:ext>
            </p:extLst>
          </p:nvPr>
        </p:nvGraphicFramePr>
        <p:xfrm>
          <a:off x="384220" y="172254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ctangle 1"/>
          <p:cNvSpPr/>
          <p:nvPr/>
        </p:nvSpPr>
        <p:spPr>
          <a:xfrm>
            <a:off x="5494986" y="2399472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Analysis: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Area Chart:  Which represents Age group wise analysis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Insight: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This study reveals that between 26 to 35 age group, who takes more loan then compared to other age group.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Banks and financial institutions heavily target the </a:t>
            </a:r>
            <a:r>
              <a:rPr lang="en-US" sz="1600" b="1" dirty="0">
                <a:solidFill>
                  <a:schemeClr val="tx1">
                    <a:lumMod val="95000"/>
                  </a:schemeClr>
                </a:solidFill>
              </a:rPr>
              <a:t>26 to 35 age group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—often referred to as young professionals or early-stage </a:t>
            </a:r>
            <a:r>
              <a:rPr lang="en-US" sz="1600" dirty="0" err="1">
                <a:solidFill>
                  <a:schemeClr val="tx1">
                    <a:lumMod val="95000"/>
                  </a:schemeClr>
                </a:solidFill>
              </a:rPr>
              <a:t>millennials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—because this demographic represents the "ideal" mix of high earning potential, long career longevity, and active consumption.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9809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4E46C-F8E1-BC6E-A662-985565D7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Challenges Faced During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F9CEE-2158-670B-8191-AD5D4BF45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466" y="1839072"/>
            <a:ext cx="10353762" cy="4652466"/>
          </a:xfrm>
        </p:spPr>
        <p:txBody>
          <a:bodyPr>
            <a:noAutofit/>
          </a:bodyPr>
          <a:lstStyle/>
          <a:p>
            <a:pPr algn="just"/>
            <a:r>
              <a:rPr lang="en-US" sz="2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Definition &amp; Calculation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Selecting KPIs aligned with business goals required multiple revisions and validation.</a:t>
            </a:r>
          </a:p>
          <a:p>
            <a:pPr algn="just"/>
            <a:r>
              <a:rPr lang="en-US" sz="2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 Integration Challenges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Ensuring consistent data logic and metrics across Excel, SQL, Power BI and Tableau.</a:t>
            </a:r>
          </a:p>
          <a:p>
            <a:pPr algn="just"/>
            <a:r>
              <a:rPr lang="en-US" sz="2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 Complexity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While loading the file their was a error, took very long time to find out the error and rectify it.</a:t>
            </a:r>
          </a:p>
          <a:p>
            <a:pPr algn="just"/>
            <a:r>
              <a:rPr lang="en-US" sz="2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Design Decisions: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Choosing appropriate visuals while maintaining clarity and avoiding clutter.</a:t>
            </a:r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C99BAB-EC20-2647-41F3-BE34101728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898" y="753228"/>
            <a:ext cx="1085844" cy="108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2801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26F8C-1E9B-2CDD-24C3-D07D5C927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82725"/>
            <a:ext cx="9613861" cy="1080938"/>
          </a:xfrm>
        </p:spPr>
        <p:txBody>
          <a:bodyPr/>
          <a:lstStyle/>
          <a:p>
            <a:pPr algn="ctr"/>
            <a:r>
              <a:rPr lang="en-IN" dirty="0"/>
              <a:t>Key Learnings and Takeaways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D878EEE8-4678-0DB5-FCC5-3FFF1B8CE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1733832"/>
            <a:ext cx="10353762" cy="4860151"/>
          </a:xfrm>
        </p:spPr>
        <p:txBody>
          <a:bodyPr>
            <a:noAutofit/>
          </a:bodyPr>
          <a:lstStyle/>
          <a:p>
            <a:pPr algn="just"/>
            <a:r>
              <a:rPr lang="en-US" sz="2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End-to-End Data Handling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Learned how raw data moves from extraction to the final dashboard.</a:t>
            </a:r>
          </a:p>
          <a:p>
            <a:pPr algn="just"/>
            <a:r>
              <a:rPr lang="en-US" sz="2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Practical SQL Skills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Gained hands-on experience in writing queries, joins, filtering and aggregations.</a:t>
            </a:r>
          </a:p>
          <a:p>
            <a:pPr algn="just"/>
            <a:r>
              <a:rPr lang="en-US" sz="2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KPI-Oriented Thinking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Learned to think from a business perspective rather than only technical output.</a:t>
            </a:r>
          </a:p>
          <a:p>
            <a:pPr algn="just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&amp; Storytelling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Understood how dashboards should communicate insights clearly to stakeholders.</a:t>
            </a:r>
          </a:p>
          <a:p>
            <a:pPr algn="just"/>
            <a:r>
              <a:rPr lang="en-US" sz="2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Problem-Solving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Learned to troubleshoot errors and improve outputs through continuous refinement.</a:t>
            </a:r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96B301F0-AC60-C5D1-30D9-A8F92A31F5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674D44-4904-7401-1A25-10C3C14F6F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4455" y="508958"/>
            <a:ext cx="1750277" cy="175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889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464" y="-8464"/>
            <a:ext cx="236391" cy="6874935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438912" cy="13715999"/>
            </a:xfrm>
            <a:custGeom>
              <a:avLst/>
              <a:gdLst/>
              <a:ahLst/>
              <a:cxnLst/>
              <a:rect l="l" t="t" r="r" b="b"/>
              <a:pathLst>
                <a:path w="438912" h="13715999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D6F42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472694" cy="13749782"/>
            </a:xfrm>
            <a:custGeom>
              <a:avLst/>
              <a:gdLst/>
              <a:ahLst/>
              <a:cxnLst/>
              <a:rect l="l" t="t" r="r" b="b"/>
              <a:pathLst>
                <a:path w="472694" h="13749782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6F42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10992" y="-8464"/>
            <a:ext cx="11989479" cy="967911"/>
            <a:chOff x="0" y="0"/>
            <a:chExt cx="23978959" cy="1935823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3945088" cy="1901952"/>
            </a:xfrm>
            <a:custGeom>
              <a:avLst/>
              <a:gdLst/>
              <a:ahLst/>
              <a:cxnLst/>
              <a:rect l="l" t="t" r="r" b="b"/>
              <a:pathLst>
                <a:path w="23945088" h="1901952">
                  <a:moveTo>
                    <a:pt x="0" y="0"/>
                  </a:moveTo>
                  <a:lnTo>
                    <a:pt x="23945088" y="0"/>
                  </a:lnTo>
                  <a:lnTo>
                    <a:pt x="239450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F1F38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3978870" cy="1935734"/>
            </a:xfrm>
            <a:custGeom>
              <a:avLst/>
              <a:gdLst/>
              <a:ahLst/>
              <a:cxnLst/>
              <a:rect l="l" t="t" r="r" b="b"/>
              <a:pathLst>
                <a:path w="23978870" h="1935734">
                  <a:moveTo>
                    <a:pt x="16891" y="0"/>
                  </a:moveTo>
                  <a:lnTo>
                    <a:pt x="23961979" y="0"/>
                  </a:lnTo>
                  <a:cubicBezTo>
                    <a:pt x="23971377" y="0"/>
                    <a:pt x="23978870" y="7620"/>
                    <a:pt x="23978870" y="16891"/>
                  </a:cubicBezTo>
                  <a:lnTo>
                    <a:pt x="23978870" y="1918843"/>
                  </a:lnTo>
                  <a:cubicBezTo>
                    <a:pt x="23978870" y="1928241"/>
                    <a:pt x="23971250" y="1935734"/>
                    <a:pt x="239619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3961979" y="1901952"/>
                  </a:lnTo>
                  <a:lnTo>
                    <a:pt x="23961979" y="1918843"/>
                  </a:lnTo>
                  <a:lnTo>
                    <a:pt x="23945089" y="1918843"/>
                  </a:lnTo>
                  <a:lnTo>
                    <a:pt x="23945089" y="16891"/>
                  </a:lnTo>
                  <a:lnTo>
                    <a:pt x="23961979" y="16891"/>
                  </a:lnTo>
                  <a:lnTo>
                    <a:pt x="239619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1F38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357296" y="162224"/>
            <a:ext cx="1601895" cy="455847"/>
            <a:chOff x="0" y="0"/>
            <a:chExt cx="3203791" cy="911695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3169920" cy="877824"/>
            </a:xfrm>
            <a:custGeom>
              <a:avLst/>
              <a:gdLst/>
              <a:ahLst/>
              <a:cxnLst/>
              <a:rect l="l" t="t" r="r" b="b"/>
              <a:pathLst>
                <a:path w="3169920" h="877824">
                  <a:moveTo>
                    <a:pt x="0" y="0"/>
                  </a:moveTo>
                  <a:lnTo>
                    <a:pt x="3169920" y="0"/>
                  </a:lnTo>
                  <a:lnTo>
                    <a:pt x="31699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D6F42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203702" cy="911608"/>
            </a:xfrm>
            <a:custGeom>
              <a:avLst/>
              <a:gdLst/>
              <a:ahLst/>
              <a:cxnLst/>
              <a:rect l="l" t="t" r="r" b="b"/>
              <a:pathLst>
                <a:path w="3203702" h="911608">
                  <a:moveTo>
                    <a:pt x="16891" y="0"/>
                  </a:moveTo>
                  <a:lnTo>
                    <a:pt x="3186811" y="0"/>
                  </a:lnTo>
                  <a:cubicBezTo>
                    <a:pt x="3196209" y="0"/>
                    <a:pt x="3203702" y="7620"/>
                    <a:pt x="3203702" y="16891"/>
                  </a:cubicBezTo>
                  <a:lnTo>
                    <a:pt x="3203702" y="894715"/>
                  </a:lnTo>
                  <a:cubicBezTo>
                    <a:pt x="3203702" y="904113"/>
                    <a:pt x="3196082" y="911606"/>
                    <a:pt x="318681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3186811" y="877824"/>
                  </a:lnTo>
                  <a:lnTo>
                    <a:pt x="3186811" y="894715"/>
                  </a:lnTo>
                  <a:lnTo>
                    <a:pt x="3169920" y="894715"/>
                  </a:lnTo>
                  <a:lnTo>
                    <a:pt x="3169920" y="16891"/>
                  </a:lnTo>
                  <a:lnTo>
                    <a:pt x="3186811" y="16891"/>
                  </a:lnTo>
                  <a:lnTo>
                    <a:pt x="3186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6F42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65760" y="170688"/>
            <a:ext cx="1584960" cy="438912"/>
            <a:chOff x="0" y="0"/>
            <a:chExt cx="3169920" cy="8778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69920" cy="877824"/>
            </a:xfrm>
            <a:custGeom>
              <a:avLst/>
              <a:gdLst/>
              <a:ahLst/>
              <a:cxnLst/>
              <a:rect l="l" t="t" r="r" b="b"/>
              <a:pathLst>
                <a:path w="3169920" h="877824">
                  <a:moveTo>
                    <a:pt x="0" y="0"/>
                  </a:moveTo>
                  <a:lnTo>
                    <a:pt x="3169920" y="0"/>
                  </a:lnTo>
                  <a:lnTo>
                    <a:pt x="3169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62" b="-2036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3169920" cy="8873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19"/>
                </a:lnSpc>
              </a:pPr>
              <a:r>
                <a:rPr lang="en-US" sz="16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EXCEL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097024" y="83283"/>
            <a:ext cx="7924800" cy="438912"/>
            <a:chOff x="0" y="0"/>
            <a:chExt cx="15849600" cy="87782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849600" cy="877824"/>
            </a:xfrm>
            <a:custGeom>
              <a:avLst/>
              <a:gdLst/>
              <a:ahLst/>
              <a:cxnLst/>
              <a:rect l="l" t="t" r="r" b="b"/>
              <a:pathLst>
                <a:path w="15849600" h="877824">
                  <a:moveTo>
                    <a:pt x="0" y="0"/>
                  </a:moveTo>
                  <a:lnTo>
                    <a:pt x="15849600" y="0"/>
                  </a:lnTo>
                  <a:lnTo>
                    <a:pt x="15849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1813" b="-30181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15849600" cy="9444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719"/>
                </a:lnSpc>
              </a:pPr>
              <a:r>
                <a:rPr lang="en-US" sz="2267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Bank Debit &amp; Credit Dashboard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097024" y="560832"/>
            <a:ext cx="7924800" cy="316992"/>
            <a:chOff x="0" y="0"/>
            <a:chExt cx="15849600" cy="63398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849600" cy="633984"/>
            </a:xfrm>
            <a:custGeom>
              <a:avLst/>
              <a:gdLst/>
              <a:ahLst/>
              <a:cxnLst/>
              <a:rect l="l" t="t" r="r" b="b"/>
              <a:pathLst>
                <a:path w="15849600" h="633984">
                  <a:moveTo>
                    <a:pt x="0" y="0"/>
                  </a:moveTo>
                  <a:lnTo>
                    <a:pt x="15849600" y="0"/>
                  </a:lnTo>
                  <a:lnTo>
                    <a:pt x="15849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5849600" cy="6720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00"/>
                </a:lnSpc>
              </a:pPr>
              <a:r>
                <a:rPr lang="en-US" sz="1333" i="1">
                  <a:solidFill>
                    <a:srgbClr val="42A5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KPI Analysis using Microsoft Excel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546080" y="292608"/>
            <a:ext cx="1463040" cy="341376"/>
            <a:chOff x="0" y="0"/>
            <a:chExt cx="2926080" cy="68275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926080" cy="682752"/>
            </a:xfrm>
            <a:custGeom>
              <a:avLst/>
              <a:gdLst/>
              <a:ahLst/>
              <a:cxnLst/>
              <a:rect l="l" t="t" r="r" b="b"/>
              <a:pathLst>
                <a:path w="2926080" h="682752">
                  <a:moveTo>
                    <a:pt x="0" y="0"/>
                  </a:moveTo>
                  <a:lnTo>
                    <a:pt x="2926080" y="0"/>
                  </a:lnTo>
                  <a:lnTo>
                    <a:pt x="2926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07" b="-3350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92608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760"/>
                </a:lnSpc>
              </a:pPr>
              <a:r>
                <a:rPr lang="en-US" sz="1467">
                  <a:solidFill>
                    <a:srgbClr val="3747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/ 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68224" y="1048512"/>
            <a:ext cx="7071360" cy="4206240"/>
            <a:chOff x="0" y="0"/>
            <a:chExt cx="14142720" cy="8412480"/>
          </a:xfrm>
        </p:grpSpPr>
        <p:sp>
          <p:nvSpPr>
            <p:cNvPr id="24" name="Freeform 24" descr="/sessions/friendly-trusting-rubin/mnt/excelr_ppt/WhatsApp Image 2026-03-28 at 22.42.18.jpeg"/>
            <p:cNvSpPr/>
            <p:nvPr/>
          </p:nvSpPr>
          <p:spPr>
            <a:xfrm>
              <a:off x="0" y="0"/>
              <a:ext cx="14142720" cy="8412480"/>
            </a:xfrm>
            <a:custGeom>
              <a:avLst/>
              <a:gdLst/>
              <a:ahLst/>
              <a:cxnLst/>
              <a:rect l="l" t="t" r="r" b="b"/>
              <a:pathLst>
                <a:path w="14142720" h="8412480">
                  <a:moveTo>
                    <a:pt x="0" y="0"/>
                  </a:moveTo>
                  <a:lnTo>
                    <a:pt x="14142720" y="0"/>
                  </a:lnTo>
                  <a:lnTo>
                    <a:pt x="14142720" y="8412480"/>
                  </a:lnTo>
                  <a:lnTo>
                    <a:pt x="0" y="8412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684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7489616" y="1040048"/>
            <a:ext cx="4527975" cy="4223175"/>
            <a:chOff x="0" y="0"/>
            <a:chExt cx="9055951" cy="8446351"/>
          </a:xfrm>
        </p:grpSpPr>
        <p:sp>
          <p:nvSpPr>
            <p:cNvPr id="26" name="Freeform 26"/>
            <p:cNvSpPr/>
            <p:nvPr/>
          </p:nvSpPr>
          <p:spPr>
            <a:xfrm>
              <a:off x="16891" y="16891"/>
              <a:ext cx="9022081" cy="8412481"/>
            </a:xfrm>
            <a:custGeom>
              <a:avLst/>
              <a:gdLst/>
              <a:ahLst/>
              <a:cxnLst/>
              <a:rect l="l" t="t" r="r" b="b"/>
              <a:pathLst>
                <a:path w="9022081" h="8412481">
                  <a:moveTo>
                    <a:pt x="0" y="0"/>
                  </a:moveTo>
                  <a:lnTo>
                    <a:pt x="9022081" y="0"/>
                  </a:lnTo>
                  <a:lnTo>
                    <a:pt x="9022081" y="8412481"/>
                  </a:lnTo>
                  <a:lnTo>
                    <a:pt x="0" y="8412481"/>
                  </a:lnTo>
                  <a:close/>
                </a:path>
              </a:pathLst>
            </a:custGeom>
            <a:solidFill>
              <a:srgbClr val="0F1F38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9055862" cy="8446262"/>
            </a:xfrm>
            <a:custGeom>
              <a:avLst/>
              <a:gdLst/>
              <a:ahLst/>
              <a:cxnLst/>
              <a:rect l="l" t="t" r="r" b="b"/>
              <a:pathLst>
                <a:path w="9055862" h="8446262">
                  <a:moveTo>
                    <a:pt x="16891" y="0"/>
                  </a:moveTo>
                  <a:lnTo>
                    <a:pt x="9038972" y="0"/>
                  </a:lnTo>
                  <a:cubicBezTo>
                    <a:pt x="9048369" y="0"/>
                    <a:pt x="9055862" y="7620"/>
                    <a:pt x="9055862" y="16891"/>
                  </a:cubicBezTo>
                  <a:lnTo>
                    <a:pt x="9055862" y="8429372"/>
                  </a:lnTo>
                  <a:cubicBezTo>
                    <a:pt x="9055862" y="8438769"/>
                    <a:pt x="9048242" y="8446262"/>
                    <a:pt x="9038972" y="8446262"/>
                  </a:cubicBezTo>
                  <a:lnTo>
                    <a:pt x="16891" y="8446262"/>
                  </a:lnTo>
                  <a:cubicBezTo>
                    <a:pt x="7493" y="8446262"/>
                    <a:pt x="0" y="8438642"/>
                    <a:pt x="0" y="84293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429372"/>
                  </a:lnTo>
                  <a:lnTo>
                    <a:pt x="16891" y="8429372"/>
                  </a:lnTo>
                  <a:lnTo>
                    <a:pt x="16891" y="8412480"/>
                  </a:lnTo>
                  <a:lnTo>
                    <a:pt x="9038972" y="8412480"/>
                  </a:lnTo>
                  <a:lnTo>
                    <a:pt x="9038972" y="8429372"/>
                  </a:lnTo>
                  <a:lnTo>
                    <a:pt x="9022080" y="8429372"/>
                  </a:lnTo>
                  <a:lnTo>
                    <a:pt x="9022080" y="16891"/>
                  </a:lnTo>
                  <a:lnTo>
                    <a:pt x="9038972" y="16891"/>
                  </a:lnTo>
                  <a:lnTo>
                    <a:pt x="90389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E4A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7489616" y="1040048"/>
            <a:ext cx="4527975" cy="138855"/>
            <a:chOff x="0" y="0"/>
            <a:chExt cx="9055951" cy="277711"/>
          </a:xfrm>
        </p:grpSpPr>
        <p:sp>
          <p:nvSpPr>
            <p:cNvPr id="29" name="Freeform 29"/>
            <p:cNvSpPr/>
            <p:nvPr/>
          </p:nvSpPr>
          <p:spPr>
            <a:xfrm>
              <a:off x="16891" y="16891"/>
              <a:ext cx="9022081" cy="243840"/>
            </a:xfrm>
            <a:custGeom>
              <a:avLst/>
              <a:gdLst/>
              <a:ahLst/>
              <a:cxnLst/>
              <a:rect l="l" t="t" r="r" b="b"/>
              <a:pathLst>
                <a:path w="9022081" h="243840">
                  <a:moveTo>
                    <a:pt x="0" y="0"/>
                  </a:moveTo>
                  <a:lnTo>
                    <a:pt x="9022081" y="0"/>
                  </a:lnTo>
                  <a:lnTo>
                    <a:pt x="9022081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1D6F42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9055862" cy="277624"/>
            </a:xfrm>
            <a:custGeom>
              <a:avLst/>
              <a:gdLst/>
              <a:ahLst/>
              <a:cxnLst/>
              <a:rect l="l" t="t" r="r" b="b"/>
              <a:pathLst>
                <a:path w="9055862" h="277624">
                  <a:moveTo>
                    <a:pt x="16891" y="0"/>
                  </a:moveTo>
                  <a:lnTo>
                    <a:pt x="9038972" y="0"/>
                  </a:lnTo>
                  <a:cubicBezTo>
                    <a:pt x="9048369" y="0"/>
                    <a:pt x="9055862" y="7620"/>
                    <a:pt x="9055862" y="16891"/>
                  </a:cubicBezTo>
                  <a:lnTo>
                    <a:pt x="9055862" y="260731"/>
                  </a:lnTo>
                  <a:cubicBezTo>
                    <a:pt x="9055862" y="270129"/>
                    <a:pt x="9048242" y="277622"/>
                    <a:pt x="9038972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9038972" y="243840"/>
                  </a:lnTo>
                  <a:lnTo>
                    <a:pt x="9038972" y="260731"/>
                  </a:lnTo>
                  <a:lnTo>
                    <a:pt x="9022080" y="260731"/>
                  </a:lnTo>
                  <a:lnTo>
                    <a:pt x="9022080" y="16891"/>
                  </a:lnTo>
                  <a:lnTo>
                    <a:pt x="9038972" y="16891"/>
                  </a:lnTo>
                  <a:lnTo>
                    <a:pt x="90389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6F42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7583424" y="1243584"/>
            <a:ext cx="4267200" cy="316992"/>
            <a:chOff x="0" y="0"/>
            <a:chExt cx="8534400" cy="63398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534400" cy="633984"/>
            </a:xfrm>
            <a:custGeom>
              <a:avLst/>
              <a:gdLst/>
              <a:ahLst/>
              <a:cxnLst/>
              <a:rect l="l" t="t" r="r" b="b"/>
              <a:pathLst>
                <a:path w="8534400" h="633984">
                  <a:moveTo>
                    <a:pt x="0" y="0"/>
                  </a:moveTo>
                  <a:lnTo>
                    <a:pt x="8534400" y="0"/>
                  </a:lnTo>
                  <a:lnTo>
                    <a:pt x="85344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2298" b="-212298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8534400" cy="6530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40"/>
                </a:lnSpc>
              </a:pPr>
              <a:r>
                <a:rPr lang="en-US" sz="1200" b="1" spc="267">
                  <a:solidFill>
                    <a:srgbClr val="4CAF5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HIGHLIGHTS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99344" y="1686224"/>
            <a:ext cx="138855" cy="138855"/>
            <a:chOff x="0" y="0"/>
            <a:chExt cx="277711" cy="277711"/>
          </a:xfrm>
        </p:grpSpPr>
        <p:sp>
          <p:nvSpPr>
            <p:cNvPr id="35" name="Freeform 35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1D6F42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1D6F42"/>
            </a:solidFill>
          </p:spPr>
        </p:sp>
      </p:grpSp>
      <p:sp>
        <p:nvSpPr>
          <p:cNvPr id="37" name="TextBox 37"/>
          <p:cNvSpPr txBox="1"/>
          <p:nvPr/>
        </p:nvSpPr>
        <p:spPr>
          <a:xfrm>
            <a:off x="7778496" y="1583944"/>
            <a:ext cx="4120896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20"/>
              </a:lnSpc>
            </a:pPr>
            <a:r>
              <a:rPr lang="en-US" sz="1267">
                <a:solidFill>
                  <a:srgbClr val="CFD8DC"/>
                </a:solidFill>
                <a:latin typeface="Calibri (MS)"/>
                <a:ea typeface="Calibri (MS)"/>
                <a:cs typeface="Calibri (MS)"/>
                <a:sym typeface="Calibri (MS)"/>
              </a:rPr>
              <a:t>Total Credit vs Debit volume: ₹1.27 Cr each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7599344" y="2125136"/>
            <a:ext cx="138855" cy="138855"/>
            <a:chOff x="0" y="0"/>
            <a:chExt cx="277711" cy="277711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1D6F42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1D6F42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7778496" y="2022856"/>
            <a:ext cx="4120896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20"/>
              </a:lnSpc>
            </a:pPr>
            <a:r>
              <a:rPr lang="en-US" sz="1267">
                <a:solidFill>
                  <a:srgbClr val="CFD8DC"/>
                </a:solidFill>
                <a:latin typeface="Calibri (MS)"/>
                <a:ea typeface="Calibri (MS)"/>
                <a:cs typeface="Calibri (MS)"/>
                <a:sym typeface="Calibri (MS)"/>
              </a:rPr>
              <a:t>Credit to Debit Ratio maintained at 1.0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7599344" y="2564048"/>
            <a:ext cx="138855" cy="138855"/>
            <a:chOff x="0" y="0"/>
            <a:chExt cx="277711" cy="277711"/>
          </a:xfrm>
        </p:grpSpPr>
        <p:sp>
          <p:nvSpPr>
            <p:cNvPr id="43" name="Freeform 43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1D6F42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1D6F42"/>
            </a:solidFill>
          </p:spPr>
        </p:sp>
      </p:grpSp>
      <p:sp>
        <p:nvSpPr>
          <p:cNvPr id="45" name="TextBox 45"/>
          <p:cNvSpPr txBox="1"/>
          <p:nvPr/>
        </p:nvSpPr>
        <p:spPr>
          <a:xfrm>
            <a:off x="7778496" y="2461768"/>
            <a:ext cx="4120896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20"/>
              </a:lnSpc>
            </a:pPr>
            <a:r>
              <a:rPr lang="en-US" sz="1267">
                <a:solidFill>
                  <a:srgbClr val="CFD8DC"/>
                </a:solidFill>
                <a:latin typeface="Calibri (MS)"/>
                <a:ea typeface="Calibri (MS)"/>
                <a:cs typeface="Calibri (MS)"/>
                <a:sym typeface="Calibri (MS)"/>
              </a:rPr>
              <a:t>Branch-wise transaction amount comparison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7599344" y="3002960"/>
            <a:ext cx="138855" cy="138855"/>
            <a:chOff x="0" y="0"/>
            <a:chExt cx="277711" cy="277711"/>
          </a:xfrm>
        </p:grpSpPr>
        <p:sp>
          <p:nvSpPr>
            <p:cNvPr id="47" name="Freeform 47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1D6F42"/>
            </a:solidFill>
          </p:spPr>
        </p:sp>
        <p:sp>
          <p:nvSpPr>
            <p:cNvPr id="48" name="Freeform 48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1D6F42"/>
            </a:solidFill>
          </p:spPr>
        </p:sp>
      </p:grpSp>
      <p:sp>
        <p:nvSpPr>
          <p:cNvPr id="49" name="TextBox 49"/>
          <p:cNvSpPr txBox="1"/>
          <p:nvPr/>
        </p:nvSpPr>
        <p:spPr>
          <a:xfrm>
            <a:off x="7778496" y="2900680"/>
            <a:ext cx="4120896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20"/>
              </a:lnSpc>
            </a:pPr>
            <a:r>
              <a:rPr lang="en-US" sz="1267">
                <a:solidFill>
                  <a:srgbClr val="CFD8DC"/>
                </a:solidFill>
                <a:latin typeface="Calibri (MS)"/>
                <a:ea typeface="Calibri (MS)"/>
                <a:cs typeface="Calibri (MS)"/>
                <a:sym typeface="Calibri (MS)"/>
              </a:rPr>
              <a:t>High-Risk Transaction Flag: 10% flagged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7574960" y="3429680"/>
            <a:ext cx="4284135" cy="65703"/>
            <a:chOff x="0" y="0"/>
            <a:chExt cx="8568271" cy="131407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8534400" cy="97536"/>
            </a:xfrm>
            <a:custGeom>
              <a:avLst/>
              <a:gdLst/>
              <a:ahLst/>
              <a:cxnLst/>
              <a:rect l="l" t="t" r="r" b="b"/>
              <a:pathLst>
                <a:path w="8534400" h="97536">
                  <a:moveTo>
                    <a:pt x="0" y="0"/>
                  </a:moveTo>
                  <a:lnTo>
                    <a:pt x="8534400" y="0"/>
                  </a:lnTo>
                  <a:lnTo>
                    <a:pt x="85344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8568182" cy="131320"/>
            </a:xfrm>
            <a:custGeom>
              <a:avLst/>
              <a:gdLst/>
              <a:ahLst/>
              <a:cxnLst/>
              <a:rect l="l" t="t" r="r" b="b"/>
              <a:pathLst>
                <a:path w="8568182" h="131320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14427"/>
                  </a:lnTo>
                  <a:cubicBezTo>
                    <a:pt x="8568182" y="123825"/>
                    <a:pt x="8560562" y="131318"/>
                    <a:pt x="85512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8551291" y="97536"/>
                  </a:lnTo>
                  <a:lnTo>
                    <a:pt x="8551291" y="114427"/>
                  </a:lnTo>
                  <a:lnTo>
                    <a:pt x="8534400" y="114427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E4A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7583424" y="3535680"/>
            <a:ext cx="4267200" cy="316992"/>
            <a:chOff x="0" y="0"/>
            <a:chExt cx="8534400" cy="63398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534400" cy="633984"/>
            </a:xfrm>
            <a:custGeom>
              <a:avLst/>
              <a:gdLst/>
              <a:ahLst/>
              <a:cxnLst/>
              <a:rect l="l" t="t" r="r" b="b"/>
              <a:pathLst>
                <a:path w="8534400" h="633984">
                  <a:moveTo>
                    <a:pt x="0" y="0"/>
                  </a:moveTo>
                  <a:lnTo>
                    <a:pt x="8534400" y="0"/>
                  </a:lnTo>
                  <a:lnTo>
                    <a:pt x="85344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2298" b="-212298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8534400" cy="6530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40"/>
                </a:lnSpc>
              </a:pPr>
              <a:r>
                <a:rPr lang="en-US" sz="1200" b="1" spc="267">
                  <a:solidFill>
                    <a:srgbClr val="EF535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CHALLENGES FACED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599344" y="3990512"/>
            <a:ext cx="126663" cy="126663"/>
            <a:chOff x="0" y="0"/>
            <a:chExt cx="253327" cy="253327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219456" cy="219456"/>
            </a:xfrm>
            <a:custGeom>
              <a:avLst/>
              <a:gdLst/>
              <a:ahLst/>
              <a:cxnLst/>
              <a:rect l="l" t="t" r="r" b="b"/>
              <a:pathLst>
                <a:path w="219456" h="219456">
                  <a:moveTo>
                    <a:pt x="0" y="0"/>
                  </a:moveTo>
                  <a:lnTo>
                    <a:pt x="219456" y="0"/>
                  </a:lnTo>
                  <a:lnTo>
                    <a:pt x="21945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EF5350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253238" cy="253240"/>
            </a:xfrm>
            <a:custGeom>
              <a:avLst/>
              <a:gdLst/>
              <a:ahLst/>
              <a:cxnLst/>
              <a:rect l="l" t="t" r="r" b="b"/>
              <a:pathLst>
                <a:path w="253238" h="253240">
                  <a:moveTo>
                    <a:pt x="16891" y="0"/>
                  </a:moveTo>
                  <a:lnTo>
                    <a:pt x="236347" y="0"/>
                  </a:lnTo>
                  <a:cubicBezTo>
                    <a:pt x="245745" y="0"/>
                    <a:pt x="253238" y="7620"/>
                    <a:pt x="253238" y="16891"/>
                  </a:cubicBezTo>
                  <a:lnTo>
                    <a:pt x="253238" y="236347"/>
                  </a:lnTo>
                  <a:cubicBezTo>
                    <a:pt x="253238" y="245745"/>
                    <a:pt x="245618" y="253238"/>
                    <a:pt x="236347" y="253238"/>
                  </a:cubicBezTo>
                  <a:lnTo>
                    <a:pt x="16891" y="253238"/>
                  </a:lnTo>
                  <a:cubicBezTo>
                    <a:pt x="7620" y="253365"/>
                    <a:pt x="0" y="245745"/>
                    <a:pt x="0" y="2363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6347"/>
                  </a:lnTo>
                  <a:lnTo>
                    <a:pt x="16891" y="236347"/>
                  </a:lnTo>
                  <a:lnTo>
                    <a:pt x="16891" y="219456"/>
                  </a:lnTo>
                  <a:lnTo>
                    <a:pt x="236347" y="219456"/>
                  </a:lnTo>
                  <a:lnTo>
                    <a:pt x="236347" y="236347"/>
                  </a:lnTo>
                  <a:lnTo>
                    <a:pt x="219456" y="236347"/>
                  </a:lnTo>
                  <a:lnTo>
                    <a:pt x="219456" y="16891"/>
                  </a:lnTo>
                  <a:lnTo>
                    <a:pt x="236347" y="16891"/>
                  </a:lnTo>
                  <a:lnTo>
                    <a:pt x="2363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5350"/>
            </a:solidFill>
          </p:spPr>
        </p:sp>
      </p:grpSp>
      <p:sp>
        <p:nvSpPr>
          <p:cNvPr id="59" name="TextBox 59"/>
          <p:cNvSpPr txBox="1"/>
          <p:nvPr/>
        </p:nvSpPr>
        <p:spPr>
          <a:xfrm>
            <a:off x="7778496" y="3876040"/>
            <a:ext cx="4120896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>
                <a:solidFill>
                  <a:srgbClr val="FFCDD2"/>
                </a:solidFill>
                <a:latin typeface="Calibri (MS)"/>
                <a:ea typeface="Calibri (MS)"/>
                <a:cs typeface="Calibri (MS)"/>
                <a:sym typeface="Calibri (MS)"/>
              </a:rPr>
              <a:t>Managing 10,000+ rows without performance lag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7599344" y="4319696"/>
            <a:ext cx="126663" cy="126663"/>
            <a:chOff x="0" y="0"/>
            <a:chExt cx="253327" cy="253327"/>
          </a:xfrm>
        </p:grpSpPr>
        <p:sp>
          <p:nvSpPr>
            <p:cNvPr id="61" name="Freeform 61"/>
            <p:cNvSpPr/>
            <p:nvPr/>
          </p:nvSpPr>
          <p:spPr>
            <a:xfrm>
              <a:off x="16891" y="16891"/>
              <a:ext cx="219456" cy="219456"/>
            </a:xfrm>
            <a:custGeom>
              <a:avLst/>
              <a:gdLst/>
              <a:ahLst/>
              <a:cxnLst/>
              <a:rect l="l" t="t" r="r" b="b"/>
              <a:pathLst>
                <a:path w="219456" h="219456">
                  <a:moveTo>
                    <a:pt x="0" y="0"/>
                  </a:moveTo>
                  <a:lnTo>
                    <a:pt x="219456" y="0"/>
                  </a:lnTo>
                  <a:lnTo>
                    <a:pt x="21945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EF5350"/>
            </a:solidFill>
          </p:spPr>
        </p:sp>
        <p:sp>
          <p:nvSpPr>
            <p:cNvPr id="62" name="Freeform 62"/>
            <p:cNvSpPr/>
            <p:nvPr/>
          </p:nvSpPr>
          <p:spPr>
            <a:xfrm>
              <a:off x="0" y="0"/>
              <a:ext cx="253238" cy="253240"/>
            </a:xfrm>
            <a:custGeom>
              <a:avLst/>
              <a:gdLst/>
              <a:ahLst/>
              <a:cxnLst/>
              <a:rect l="l" t="t" r="r" b="b"/>
              <a:pathLst>
                <a:path w="253238" h="253240">
                  <a:moveTo>
                    <a:pt x="16891" y="0"/>
                  </a:moveTo>
                  <a:lnTo>
                    <a:pt x="236347" y="0"/>
                  </a:lnTo>
                  <a:cubicBezTo>
                    <a:pt x="245745" y="0"/>
                    <a:pt x="253238" y="7620"/>
                    <a:pt x="253238" y="16891"/>
                  </a:cubicBezTo>
                  <a:lnTo>
                    <a:pt x="253238" y="236347"/>
                  </a:lnTo>
                  <a:cubicBezTo>
                    <a:pt x="253238" y="245745"/>
                    <a:pt x="245618" y="253238"/>
                    <a:pt x="236347" y="253238"/>
                  </a:cubicBezTo>
                  <a:lnTo>
                    <a:pt x="16891" y="253238"/>
                  </a:lnTo>
                  <a:cubicBezTo>
                    <a:pt x="7620" y="253365"/>
                    <a:pt x="0" y="245745"/>
                    <a:pt x="0" y="2363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6347"/>
                  </a:lnTo>
                  <a:lnTo>
                    <a:pt x="16891" y="236347"/>
                  </a:lnTo>
                  <a:lnTo>
                    <a:pt x="16891" y="219456"/>
                  </a:lnTo>
                  <a:lnTo>
                    <a:pt x="236347" y="219456"/>
                  </a:lnTo>
                  <a:lnTo>
                    <a:pt x="236347" y="236347"/>
                  </a:lnTo>
                  <a:lnTo>
                    <a:pt x="219456" y="236347"/>
                  </a:lnTo>
                  <a:lnTo>
                    <a:pt x="219456" y="16891"/>
                  </a:lnTo>
                  <a:lnTo>
                    <a:pt x="236347" y="16891"/>
                  </a:lnTo>
                  <a:lnTo>
                    <a:pt x="2363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5350"/>
            </a:solidFill>
          </p:spPr>
        </p:sp>
      </p:grpSp>
      <p:sp>
        <p:nvSpPr>
          <p:cNvPr id="63" name="TextBox 63"/>
          <p:cNvSpPr txBox="1"/>
          <p:nvPr/>
        </p:nvSpPr>
        <p:spPr>
          <a:xfrm>
            <a:off x="7778496" y="4205224"/>
            <a:ext cx="4120896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>
                <a:solidFill>
                  <a:srgbClr val="FFCDD2"/>
                </a:solidFill>
                <a:latin typeface="Calibri (MS)"/>
                <a:ea typeface="Calibri (MS)"/>
                <a:cs typeface="Calibri (MS)"/>
                <a:sym typeface="Calibri (MS)"/>
              </a:rPr>
              <a:t>Building dynamic pivot charts with slicers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7599344" y="4648880"/>
            <a:ext cx="126663" cy="126663"/>
            <a:chOff x="0" y="0"/>
            <a:chExt cx="253327" cy="253327"/>
          </a:xfrm>
        </p:grpSpPr>
        <p:sp>
          <p:nvSpPr>
            <p:cNvPr id="65" name="Freeform 65"/>
            <p:cNvSpPr/>
            <p:nvPr/>
          </p:nvSpPr>
          <p:spPr>
            <a:xfrm>
              <a:off x="16891" y="16891"/>
              <a:ext cx="219456" cy="219456"/>
            </a:xfrm>
            <a:custGeom>
              <a:avLst/>
              <a:gdLst/>
              <a:ahLst/>
              <a:cxnLst/>
              <a:rect l="l" t="t" r="r" b="b"/>
              <a:pathLst>
                <a:path w="219456" h="219456">
                  <a:moveTo>
                    <a:pt x="0" y="0"/>
                  </a:moveTo>
                  <a:lnTo>
                    <a:pt x="219456" y="0"/>
                  </a:lnTo>
                  <a:lnTo>
                    <a:pt x="21945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EF5350"/>
            </a:solidFill>
          </p:spPr>
        </p:sp>
        <p:sp>
          <p:nvSpPr>
            <p:cNvPr id="66" name="Freeform 66"/>
            <p:cNvSpPr/>
            <p:nvPr/>
          </p:nvSpPr>
          <p:spPr>
            <a:xfrm>
              <a:off x="0" y="0"/>
              <a:ext cx="253238" cy="253240"/>
            </a:xfrm>
            <a:custGeom>
              <a:avLst/>
              <a:gdLst/>
              <a:ahLst/>
              <a:cxnLst/>
              <a:rect l="l" t="t" r="r" b="b"/>
              <a:pathLst>
                <a:path w="253238" h="253240">
                  <a:moveTo>
                    <a:pt x="16891" y="0"/>
                  </a:moveTo>
                  <a:lnTo>
                    <a:pt x="236347" y="0"/>
                  </a:lnTo>
                  <a:cubicBezTo>
                    <a:pt x="245745" y="0"/>
                    <a:pt x="253238" y="7620"/>
                    <a:pt x="253238" y="16891"/>
                  </a:cubicBezTo>
                  <a:lnTo>
                    <a:pt x="253238" y="236347"/>
                  </a:lnTo>
                  <a:cubicBezTo>
                    <a:pt x="253238" y="245745"/>
                    <a:pt x="245618" y="253238"/>
                    <a:pt x="236347" y="253238"/>
                  </a:cubicBezTo>
                  <a:lnTo>
                    <a:pt x="16891" y="253238"/>
                  </a:lnTo>
                  <a:cubicBezTo>
                    <a:pt x="7620" y="253365"/>
                    <a:pt x="0" y="245745"/>
                    <a:pt x="0" y="2363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6347"/>
                  </a:lnTo>
                  <a:lnTo>
                    <a:pt x="16891" y="236347"/>
                  </a:lnTo>
                  <a:lnTo>
                    <a:pt x="16891" y="219456"/>
                  </a:lnTo>
                  <a:lnTo>
                    <a:pt x="236347" y="219456"/>
                  </a:lnTo>
                  <a:lnTo>
                    <a:pt x="236347" y="236347"/>
                  </a:lnTo>
                  <a:lnTo>
                    <a:pt x="219456" y="236347"/>
                  </a:lnTo>
                  <a:lnTo>
                    <a:pt x="219456" y="16891"/>
                  </a:lnTo>
                  <a:lnTo>
                    <a:pt x="236347" y="16891"/>
                  </a:lnTo>
                  <a:lnTo>
                    <a:pt x="2363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5350"/>
            </a:solidFill>
          </p:spPr>
        </p:sp>
      </p:grpSp>
      <p:sp>
        <p:nvSpPr>
          <p:cNvPr id="67" name="TextBox 67"/>
          <p:cNvSpPr txBox="1"/>
          <p:nvPr/>
        </p:nvSpPr>
        <p:spPr>
          <a:xfrm>
            <a:off x="7778496" y="4534408"/>
            <a:ext cx="4120896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>
                <a:solidFill>
                  <a:srgbClr val="FFCDD2"/>
                </a:solidFill>
                <a:latin typeface="Calibri (MS)"/>
                <a:ea typeface="Calibri (MS)"/>
                <a:cs typeface="Calibri (MS)"/>
                <a:sym typeface="Calibri (MS)"/>
              </a:rPr>
              <a:t>Linking KPI cards to live data using named ranges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7599344" y="4978064"/>
            <a:ext cx="126663" cy="126663"/>
            <a:chOff x="0" y="0"/>
            <a:chExt cx="253327" cy="253327"/>
          </a:xfrm>
        </p:grpSpPr>
        <p:sp>
          <p:nvSpPr>
            <p:cNvPr id="69" name="Freeform 69"/>
            <p:cNvSpPr/>
            <p:nvPr/>
          </p:nvSpPr>
          <p:spPr>
            <a:xfrm>
              <a:off x="16891" y="16891"/>
              <a:ext cx="219456" cy="219456"/>
            </a:xfrm>
            <a:custGeom>
              <a:avLst/>
              <a:gdLst/>
              <a:ahLst/>
              <a:cxnLst/>
              <a:rect l="l" t="t" r="r" b="b"/>
              <a:pathLst>
                <a:path w="219456" h="219456">
                  <a:moveTo>
                    <a:pt x="0" y="0"/>
                  </a:moveTo>
                  <a:lnTo>
                    <a:pt x="219456" y="0"/>
                  </a:lnTo>
                  <a:lnTo>
                    <a:pt x="21945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EF5350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253238" cy="253240"/>
            </a:xfrm>
            <a:custGeom>
              <a:avLst/>
              <a:gdLst/>
              <a:ahLst/>
              <a:cxnLst/>
              <a:rect l="l" t="t" r="r" b="b"/>
              <a:pathLst>
                <a:path w="253238" h="253240">
                  <a:moveTo>
                    <a:pt x="16891" y="0"/>
                  </a:moveTo>
                  <a:lnTo>
                    <a:pt x="236347" y="0"/>
                  </a:lnTo>
                  <a:cubicBezTo>
                    <a:pt x="245745" y="0"/>
                    <a:pt x="253238" y="7620"/>
                    <a:pt x="253238" y="16891"/>
                  </a:cubicBezTo>
                  <a:lnTo>
                    <a:pt x="253238" y="236347"/>
                  </a:lnTo>
                  <a:cubicBezTo>
                    <a:pt x="253238" y="245745"/>
                    <a:pt x="245618" y="253238"/>
                    <a:pt x="236347" y="253238"/>
                  </a:cubicBezTo>
                  <a:lnTo>
                    <a:pt x="16891" y="253238"/>
                  </a:lnTo>
                  <a:cubicBezTo>
                    <a:pt x="7620" y="253365"/>
                    <a:pt x="0" y="245745"/>
                    <a:pt x="0" y="2363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6347"/>
                  </a:lnTo>
                  <a:lnTo>
                    <a:pt x="16891" y="236347"/>
                  </a:lnTo>
                  <a:lnTo>
                    <a:pt x="16891" y="219456"/>
                  </a:lnTo>
                  <a:lnTo>
                    <a:pt x="236347" y="219456"/>
                  </a:lnTo>
                  <a:lnTo>
                    <a:pt x="236347" y="236347"/>
                  </a:lnTo>
                  <a:lnTo>
                    <a:pt x="219456" y="236347"/>
                  </a:lnTo>
                  <a:lnTo>
                    <a:pt x="219456" y="16891"/>
                  </a:lnTo>
                  <a:lnTo>
                    <a:pt x="236347" y="16891"/>
                  </a:lnTo>
                  <a:lnTo>
                    <a:pt x="2363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5350"/>
            </a:solidFill>
          </p:spPr>
        </p:sp>
      </p:grpSp>
      <p:sp>
        <p:nvSpPr>
          <p:cNvPr id="71" name="TextBox 71"/>
          <p:cNvSpPr txBox="1"/>
          <p:nvPr/>
        </p:nvSpPr>
        <p:spPr>
          <a:xfrm>
            <a:off x="7778496" y="4863592"/>
            <a:ext cx="4120896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>
                <a:solidFill>
                  <a:srgbClr val="FFCDD2"/>
                </a:solidFill>
                <a:latin typeface="Calibri (MS)"/>
                <a:ea typeface="Calibri (MS)"/>
                <a:cs typeface="Calibri (MS)"/>
                <a:sym typeface="Calibri (MS)"/>
              </a:rPr>
              <a:t>Formatting dashboards to fit one printable screen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210992" y="5331632"/>
            <a:ext cx="11989479" cy="650919"/>
            <a:chOff x="0" y="0"/>
            <a:chExt cx="23978959" cy="1301839"/>
          </a:xfrm>
        </p:grpSpPr>
        <p:sp>
          <p:nvSpPr>
            <p:cNvPr id="73" name="Freeform 73"/>
            <p:cNvSpPr/>
            <p:nvPr/>
          </p:nvSpPr>
          <p:spPr>
            <a:xfrm>
              <a:off x="16891" y="16891"/>
              <a:ext cx="23945088" cy="1267968"/>
            </a:xfrm>
            <a:custGeom>
              <a:avLst/>
              <a:gdLst/>
              <a:ahLst/>
              <a:cxnLst/>
              <a:rect l="l" t="t" r="r" b="b"/>
              <a:pathLst>
                <a:path w="23945088" h="1267968">
                  <a:moveTo>
                    <a:pt x="0" y="0"/>
                  </a:moveTo>
                  <a:lnTo>
                    <a:pt x="23945088" y="0"/>
                  </a:lnTo>
                  <a:lnTo>
                    <a:pt x="2394508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F1F38"/>
            </a:solidFill>
          </p:spPr>
        </p:sp>
        <p:sp>
          <p:nvSpPr>
            <p:cNvPr id="74" name="Freeform 74"/>
            <p:cNvSpPr/>
            <p:nvPr/>
          </p:nvSpPr>
          <p:spPr>
            <a:xfrm>
              <a:off x="0" y="0"/>
              <a:ext cx="23978870" cy="1301750"/>
            </a:xfrm>
            <a:custGeom>
              <a:avLst/>
              <a:gdLst/>
              <a:ahLst/>
              <a:cxnLst/>
              <a:rect l="l" t="t" r="r" b="b"/>
              <a:pathLst>
                <a:path w="23978870" h="1301750">
                  <a:moveTo>
                    <a:pt x="16891" y="0"/>
                  </a:moveTo>
                  <a:lnTo>
                    <a:pt x="23961979" y="0"/>
                  </a:lnTo>
                  <a:cubicBezTo>
                    <a:pt x="23971377" y="0"/>
                    <a:pt x="23978870" y="7620"/>
                    <a:pt x="23978870" y="16891"/>
                  </a:cubicBezTo>
                  <a:lnTo>
                    <a:pt x="23978870" y="1284859"/>
                  </a:lnTo>
                  <a:cubicBezTo>
                    <a:pt x="23978870" y="1294257"/>
                    <a:pt x="23971250" y="1301750"/>
                    <a:pt x="2396197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23961979" y="1267968"/>
                  </a:lnTo>
                  <a:lnTo>
                    <a:pt x="23961979" y="1284859"/>
                  </a:lnTo>
                  <a:lnTo>
                    <a:pt x="23945089" y="1284859"/>
                  </a:lnTo>
                  <a:lnTo>
                    <a:pt x="23945089" y="16891"/>
                  </a:lnTo>
                  <a:lnTo>
                    <a:pt x="23961979" y="16891"/>
                  </a:lnTo>
                  <a:lnTo>
                    <a:pt x="239619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E4A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296336" y="5453552"/>
            <a:ext cx="1114215" cy="333927"/>
            <a:chOff x="0" y="0"/>
            <a:chExt cx="2228431" cy="667855"/>
          </a:xfrm>
        </p:grpSpPr>
        <p:sp>
          <p:nvSpPr>
            <p:cNvPr id="76" name="Freeform 76"/>
            <p:cNvSpPr/>
            <p:nvPr/>
          </p:nvSpPr>
          <p:spPr>
            <a:xfrm>
              <a:off x="16891" y="16891"/>
              <a:ext cx="2194560" cy="633984"/>
            </a:xfrm>
            <a:custGeom>
              <a:avLst/>
              <a:gdLst/>
              <a:ahLst/>
              <a:cxnLst/>
              <a:rect l="l" t="t" r="r" b="b"/>
              <a:pathLst>
                <a:path w="2194560" h="633984">
                  <a:moveTo>
                    <a:pt x="0" y="0"/>
                  </a:moveTo>
                  <a:lnTo>
                    <a:pt x="2194560" y="0"/>
                  </a:lnTo>
                  <a:lnTo>
                    <a:pt x="219456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D6F42"/>
            </a:solidFill>
          </p:spPr>
        </p:sp>
        <p:sp>
          <p:nvSpPr>
            <p:cNvPr id="77" name="Freeform 77"/>
            <p:cNvSpPr/>
            <p:nvPr/>
          </p:nvSpPr>
          <p:spPr>
            <a:xfrm>
              <a:off x="0" y="0"/>
              <a:ext cx="2228342" cy="667768"/>
            </a:xfrm>
            <a:custGeom>
              <a:avLst/>
              <a:gdLst/>
              <a:ahLst/>
              <a:cxnLst/>
              <a:rect l="l" t="t" r="r" b="b"/>
              <a:pathLst>
                <a:path w="2228342" h="667768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650875"/>
                  </a:lnTo>
                  <a:cubicBezTo>
                    <a:pt x="2228342" y="660273"/>
                    <a:pt x="2220722" y="667766"/>
                    <a:pt x="2211451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211451" y="633984"/>
                  </a:lnTo>
                  <a:lnTo>
                    <a:pt x="2211451" y="650875"/>
                  </a:lnTo>
                  <a:lnTo>
                    <a:pt x="2194560" y="650875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6F42"/>
            </a:solidFill>
          </p:spPr>
        </p:sp>
      </p:grpSp>
      <p:grpSp>
        <p:nvGrpSpPr>
          <p:cNvPr id="78" name="Group 78"/>
          <p:cNvGrpSpPr/>
          <p:nvPr/>
        </p:nvGrpSpPr>
        <p:grpSpPr>
          <a:xfrm>
            <a:off x="304800" y="5462016"/>
            <a:ext cx="1097280" cy="316992"/>
            <a:chOff x="0" y="0"/>
            <a:chExt cx="2194560" cy="633984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194560" cy="633984"/>
            </a:xfrm>
            <a:custGeom>
              <a:avLst/>
              <a:gdLst/>
              <a:ahLst/>
              <a:cxnLst/>
              <a:rect l="l" t="t" r="r" b="b"/>
              <a:pathLst>
                <a:path w="2194560" h="633984">
                  <a:moveTo>
                    <a:pt x="0" y="0"/>
                  </a:moveTo>
                  <a:lnTo>
                    <a:pt x="2194560" y="0"/>
                  </a:lnTo>
                  <a:lnTo>
                    <a:pt x="2194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48" b="-17448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2194560" cy="6720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0"/>
                </a:lnSpc>
              </a:pPr>
              <a:r>
                <a:rPr lang="en-US" sz="1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Excel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524000" y="5462016"/>
            <a:ext cx="10485120" cy="316992"/>
            <a:chOff x="0" y="0"/>
            <a:chExt cx="20970240" cy="633984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0970239" cy="633984"/>
            </a:xfrm>
            <a:custGeom>
              <a:avLst/>
              <a:gdLst/>
              <a:ahLst/>
              <a:cxnLst/>
              <a:rect l="l" t="t" r="r" b="b"/>
              <a:pathLst>
                <a:path w="20970239" h="633984">
                  <a:moveTo>
                    <a:pt x="0" y="0"/>
                  </a:moveTo>
                  <a:lnTo>
                    <a:pt x="20970239" y="0"/>
                  </a:lnTo>
                  <a:lnTo>
                    <a:pt x="209702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4505" b="-594505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20970240" cy="6720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00"/>
                </a:lnSpc>
              </a:pPr>
              <a:r>
                <a:rPr lang="en-US" sz="1333" b="1">
                  <a:solidFill>
                    <a:srgbClr val="ECEFF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Bank Debit &amp; Credit Dashboard  —  KPI Analysis using Microsoft Excel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-8464" y="6782480"/>
            <a:ext cx="12208935" cy="83991"/>
            <a:chOff x="0" y="0"/>
            <a:chExt cx="24417871" cy="167983"/>
          </a:xfrm>
        </p:grpSpPr>
        <p:sp>
          <p:nvSpPr>
            <p:cNvPr id="85" name="Freeform 85"/>
            <p:cNvSpPr/>
            <p:nvPr/>
          </p:nvSpPr>
          <p:spPr>
            <a:xfrm>
              <a:off x="16891" y="16891"/>
              <a:ext cx="24383999" cy="134112"/>
            </a:xfrm>
            <a:custGeom>
              <a:avLst/>
              <a:gdLst/>
              <a:ahLst/>
              <a:cxnLst/>
              <a:rect l="l" t="t" r="r" b="b"/>
              <a:pathLst>
                <a:path w="24383999" h="134112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D6F42"/>
            </a:solidFill>
          </p:spPr>
        </p:sp>
        <p:sp>
          <p:nvSpPr>
            <p:cNvPr id="86" name="Freeform 86"/>
            <p:cNvSpPr/>
            <p:nvPr/>
          </p:nvSpPr>
          <p:spPr>
            <a:xfrm>
              <a:off x="0" y="0"/>
              <a:ext cx="24417782" cy="167896"/>
            </a:xfrm>
            <a:custGeom>
              <a:avLst/>
              <a:gdLst/>
              <a:ahLst/>
              <a:cxnLst/>
              <a:rect l="l" t="t" r="r" b="b"/>
              <a:pathLst>
                <a:path w="24417782" h="167896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6F42"/>
            </a:solidFill>
          </p:spPr>
        </p:sp>
      </p:grpSp>
    </p:spTree>
    <p:extLst>
      <p:ext uri="{BB962C8B-B14F-4D97-AF65-F5344CB8AC3E}">
        <p14:creationId xmlns:p14="http://schemas.microsoft.com/office/powerpoint/2010/main" val="21148146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464" y="-8464"/>
            <a:ext cx="236391" cy="6874935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438912" cy="13715999"/>
            </a:xfrm>
            <a:custGeom>
              <a:avLst/>
              <a:gdLst/>
              <a:ahLst/>
              <a:cxnLst/>
              <a:rect l="l" t="t" r="r" b="b"/>
              <a:pathLst>
                <a:path w="438912" h="13715999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758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472694" cy="13749782"/>
            </a:xfrm>
            <a:custGeom>
              <a:avLst/>
              <a:gdLst/>
              <a:ahLst/>
              <a:cxnLst/>
              <a:rect l="l" t="t" r="r" b="b"/>
              <a:pathLst>
                <a:path w="472694" h="13749782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58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10992" y="-47101"/>
            <a:ext cx="11989479" cy="967911"/>
            <a:chOff x="0" y="0"/>
            <a:chExt cx="23978959" cy="1935823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3945088" cy="1901952"/>
            </a:xfrm>
            <a:custGeom>
              <a:avLst/>
              <a:gdLst/>
              <a:ahLst/>
              <a:cxnLst/>
              <a:rect l="l" t="t" r="r" b="b"/>
              <a:pathLst>
                <a:path w="23945088" h="1901952">
                  <a:moveTo>
                    <a:pt x="0" y="0"/>
                  </a:moveTo>
                  <a:lnTo>
                    <a:pt x="23945088" y="0"/>
                  </a:lnTo>
                  <a:lnTo>
                    <a:pt x="239450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F1F38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3978870" cy="1935734"/>
            </a:xfrm>
            <a:custGeom>
              <a:avLst/>
              <a:gdLst/>
              <a:ahLst/>
              <a:cxnLst/>
              <a:rect l="l" t="t" r="r" b="b"/>
              <a:pathLst>
                <a:path w="23978870" h="1935734">
                  <a:moveTo>
                    <a:pt x="16891" y="0"/>
                  </a:moveTo>
                  <a:lnTo>
                    <a:pt x="23961979" y="0"/>
                  </a:lnTo>
                  <a:cubicBezTo>
                    <a:pt x="23971377" y="0"/>
                    <a:pt x="23978870" y="7620"/>
                    <a:pt x="23978870" y="16891"/>
                  </a:cubicBezTo>
                  <a:lnTo>
                    <a:pt x="23978870" y="1918843"/>
                  </a:lnTo>
                  <a:cubicBezTo>
                    <a:pt x="23978870" y="1928241"/>
                    <a:pt x="23971250" y="1935734"/>
                    <a:pt x="239619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3961979" y="1901952"/>
                  </a:lnTo>
                  <a:lnTo>
                    <a:pt x="23961979" y="1918843"/>
                  </a:lnTo>
                  <a:lnTo>
                    <a:pt x="23945089" y="1918843"/>
                  </a:lnTo>
                  <a:lnTo>
                    <a:pt x="23945089" y="16891"/>
                  </a:lnTo>
                  <a:lnTo>
                    <a:pt x="23961979" y="16891"/>
                  </a:lnTo>
                  <a:lnTo>
                    <a:pt x="239619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1F38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2097024" y="121920"/>
            <a:ext cx="7924800" cy="438912"/>
            <a:chOff x="0" y="0"/>
            <a:chExt cx="15849600" cy="87782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849600" cy="877824"/>
            </a:xfrm>
            <a:custGeom>
              <a:avLst/>
              <a:gdLst/>
              <a:ahLst/>
              <a:cxnLst/>
              <a:rect l="l" t="t" r="r" b="b"/>
              <a:pathLst>
                <a:path w="15849600" h="877824">
                  <a:moveTo>
                    <a:pt x="0" y="0"/>
                  </a:moveTo>
                  <a:lnTo>
                    <a:pt x="15849600" y="0"/>
                  </a:lnTo>
                  <a:lnTo>
                    <a:pt x="15849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1813" b="-30181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15849600" cy="9444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719"/>
                </a:lnSpc>
              </a:pPr>
              <a:r>
                <a:rPr lang="en-US" sz="2267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Loan Dashboard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097024" y="560832"/>
            <a:ext cx="7924800" cy="316992"/>
            <a:chOff x="0" y="0"/>
            <a:chExt cx="15849600" cy="63398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849600" cy="633984"/>
            </a:xfrm>
            <a:custGeom>
              <a:avLst/>
              <a:gdLst/>
              <a:ahLst/>
              <a:cxnLst/>
              <a:rect l="l" t="t" r="r" b="b"/>
              <a:pathLst>
                <a:path w="15849600" h="633984">
                  <a:moveTo>
                    <a:pt x="0" y="0"/>
                  </a:moveTo>
                  <a:lnTo>
                    <a:pt x="15849600" y="0"/>
                  </a:lnTo>
                  <a:lnTo>
                    <a:pt x="15849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5849600" cy="6720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00"/>
                </a:lnSpc>
              </a:pPr>
              <a:r>
                <a:rPr lang="en-US" sz="1333" i="1">
                  <a:solidFill>
                    <a:srgbClr val="42A5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Data Extraction &amp; Reporting using SQL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546080" y="292608"/>
            <a:ext cx="1463040" cy="341376"/>
            <a:chOff x="0" y="0"/>
            <a:chExt cx="2926080" cy="68275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926080" cy="682752"/>
            </a:xfrm>
            <a:custGeom>
              <a:avLst/>
              <a:gdLst/>
              <a:ahLst/>
              <a:cxnLst/>
              <a:rect l="l" t="t" r="r" b="b"/>
              <a:pathLst>
                <a:path w="2926080" h="682752">
                  <a:moveTo>
                    <a:pt x="0" y="0"/>
                  </a:moveTo>
                  <a:lnTo>
                    <a:pt x="2926080" y="0"/>
                  </a:lnTo>
                  <a:lnTo>
                    <a:pt x="2926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07" b="-3350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92608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760"/>
                </a:lnSpc>
              </a:pPr>
              <a:r>
                <a:rPr lang="en-US" sz="1467">
                  <a:solidFill>
                    <a:srgbClr val="3747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/ 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68224" y="1048512"/>
            <a:ext cx="7071360" cy="4206240"/>
            <a:chOff x="0" y="0"/>
            <a:chExt cx="14142720" cy="8412480"/>
          </a:xfrm>
        </p:grpSpPr>
        <p:sp>
          <p:nvSpPr>
            <p:cNvPr id="24" name="Freeform 24" descr="/sessions/friendly-trusting-rubin/mnt/excelr_ppt/WhatsApp Image 2026-03-28 at 22.42.19 (1).jpeg"/>
            <p:cNvSpPr/>
            <p:nvPr/>
          </p:nvSpPr>
          <p:spPr>
            <a:xfrm>
              <a:off x="0" y="0"/>
              <a:ext cx="14142720" cy="8412480"/>
            </a:xfrm>
            <a:custGeom>
              <a:avLst/>
              <a:gdLst/>
              <a:ahLst/>
              <a:cxnLst/>
              <a:rect l="l" t="t" r="r" b="b"/>
              <a:pathLst>
                <a:path w="14142720" h="8412480">
                  <a:moveTo>
                    <a:pt x="0" y="0"/>
                  </a:moveTo>
                  <a:lnTo>
                    <a:pt x="14142720" y="0"/>
                  </a:lnTo>
                  <a:lnTo>
                    <a:pt x="14142720" y="8412480"/>
                  </a:lnTo>
                  <a:lnTo>
                    <a:pt x="0" y="8412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6129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7489616" y="1040048"/>
            <a:ext cx="4527975" cy="4223175"/>
            <a:chOff x="0" y="0"/>
            <a:chExt cx="9055951" cy="8446351"/>
          </a:xfrm>
        </p:grpSpPr>
        <p:sp>
          <p:nvSpPr>
            <p:cNvPr id="26" name="Freeform 26"/>
            <p:cNvSpPr/>
            <p:nvPr/>
          </p:nvSpPr>
          <p:spPr>
            <a:xfrm>
              <a:off x="16891" y="16891"/>
              <a:ext cx="9022081" cy="8412481"/>
            </a:xfrm>
            <a:custGeom>
              <a:avLst/>
              <a:gdLst/>
              <a:ahLst/>
              <a:cxnLst/>
              <a:rect l="l" t="t" r="r" b="b"/>
              <a:pathLst>
                <a:path w="9022081" h="8412481">
                  <a:moveTo>
                    <a:pt x="0" y="0"/>
                  </a:moveTo>
                  <a:lnTo>
                    <a:pt x="9022081" y="0"/>
                  </a:lnTo>
                  <a:lnTo>
                    <a:pt x="9022081" y="8412481"/>
                  </a:lnTo>
                  <a:lnTo>
                    <a:pt x="0" y="8412481"/>
                  </a:lnTo>
                  <a:close/>
                </a:path>
              </a:pathLst>
            </a:custGeom>
            <a:solidFill>
              <a:srgbClr val="0F1F38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9055862" cy="8446262"/>
            </a:xfrm>
            <a:custGeom>
              <a:avLst/>
              <a:gdLst/>
              <a:ahLst/>
              <a:cxnLst/>
              <a:rect l="l" t="t" r="r" b="b"/>
              <a:pathLst>
                <a:path w="9055862" h="8446262">
                  <a:moveTo>
                    <a:pt x="16891" y="0"/>
                  </a:moveTo>
                  <a:lnTo>
                    <a:pt x="9038972" y="0"/>
                  </a:lnTo>
                  <a:cubicBezTo>
                    <a:pt x="9048369" y="0"/>
                    <a:pt x="9055862" y="7620"/>
                    <a:pt x="9055862" y="16891"/>
                  </a:cubicBezTo>
                  <a:lnTo>
                    <a:pt x="9055862" y="8429372"/>
                  </a:lnTo>
                  <a:cubicBezTo>
                    <a:pt x="9055862" y="8438769"/>
                    <a:pt x="9048242" y="8446262"/>
                    <a:pt x="9038972" y="8446262"/>
                  </a:cubicBezTo>
                  <a:lnTo>
                    <a:pt x="16891" y="8446262"/>
                  </a:lnTo>
                  <a:cubicBezTo>
                    <a:pt x="7493" y="8446262"/>
                    <a:pt x="0" y="8438642"/>
                    <a:pt x="0" y="84293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429372"/>
                  </a:lnTo>
                  <a:lnTo>
                    <a:pt x="16891" y="8429372"/>
                  </a:lnTo>
                  <a:lnTo>
                    <a:pt x="16891" y="8412480"/>
                  </a:lnTo>
                  <a:lnTo>
                    <a:pt x="9038972" y="8412480"/>
                  </a:lnTo>
                  <a:lnTo>
                    <a:pt x="9038972" y="8429372"/>
                  </a:lnTo>
                  <a:lnTo>
                    <a:pt x="9022080" y="8429372"/>
                  </a:lnTo>
                  <a:lnTo>
                    <a:pt x="9022080" y="16891"/>
                  </a:lnTo>
                  <a:lnTo>
                    <a:pt x="9038972" y="16891"/>
                  </a:lnTo>
                  <a:lnTo>
                    <a:pt x="90389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E4A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7489616" y="1040048"/>
            <a:ext cx="4527975" cy="138855"/>
            <a:chOff x="0" y="0"/>
            <a:chExt cx="9055951" cy="277711"/>
          </a:xfrm>
        </p:grpSpPr>
        <p:sp>
          <p:nvSpPr>
            <p:cNvPr id="29" name="Freeform 29"/>
            <p:cNvSpPr/>
            <p:nvPr/>
          </p:nvSpPr>
          <p:spPr>
            <a:xfrm>
              <a:off x="16891" y="16891"/>
              <a:ext cx="9022081" cy="243840"/>
            </a:xfrm>
            <a:custGeom>
              <a:avLst/>
              <a:gdLst/>
              <a:ahLst/>
              <a:cxnLst/>
              <a:rect l="l" t="t" r="r" b="b"/>
              <a:pathLst>
                <a:path w="9022081" h="243840">
                  <a:moveTo>
                    <a:pt x="0" y="0"/>
                  </a:moveTo>
                  <a:lnTo>
                    <a:pt x="9022081" y="0"/>
                  </a:lnTo>
                  <a:lnTo>
                    <a:pt x="9022081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0758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9055862" cy="277624"/>
            </a:xfrm>
            <a:custGeom>
              <a:avLst/>
              <a:gdLst/>
              <a:ahLst/>
              <a:cxnLst/>
              <a:rect l="l" t="t" r="r" b="b"/>
              <a:pathLst>
                <a:path w="9055862" h="277624">
                  <a:moveTo>
                    <a:pt x="16891" y="0"/>
                  </a:moveTo>
                  <a:lnTo>
                    <a:pt x="9038972" y="0"/>
                  </a:lnTo>
                  <a:cubicBezTo>
                    <a:pt x="9048369" y="0"/>
                    <a:pt x="9055862" y="7620"/>
                    <a:pt x="9055862" y="16891"/>
                  </a:cubicBezTo>
                  <a:lnTo>
                    <a:pt x="9055862" y="260731"/>
                  </a:lnTo>
                  <a:cubicBezTo>
                    <a:pt x="9055862" y="270129"/>
                    <a:pt x="9048242" y="277622"/>
                    <a:pt x="9038972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9038972" y="243840"/>
                  </a:lnTo>
                  <a:lnTo>
                    <a:pt x="9038972" y="260731"/>
                  </a:lnTo>
                  <a:lnTo>
                    <a:pt x="9022080" y="260731"/>
                  </a:lnTo>
                  <a:lnTo>
                    <a:pt x="9022080" y="16891"/>
                  </a:lnTo>
                  <a:lnTo>
                    <a:pt x="9038972" y="16891"/>
                  </a:lnTo>
                  <a:lnTo>
                    <a:pt x="90389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58F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7583424" y="1243584"/>
            <a:ext cx="4267200" cy="316992"/>
            <a:chOff x="0" y="0"/>
            <a:chExt cx="8534400" cy="63398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534400" cy="633984"/>
            </a:xfrm>
            <a:custGeom>
              <a:avLst/>
              <a:gdLst/>
              <a:ahLst/>
              <a:cxnLst/>
              <a:rect l="l" t="t" r="r" b="b"/>
              <a:pathLst>
                <a:path w="8534400" h="633984">
                  <a:moveTo>
                    <a:pt x="0" y="0"/>
                  </a:moveTo>
                  <a:lnTo>
                    <a:pt x="8534400" y="0"/>
                  </a:lnTo>
                  <a:lnTo>
                    <a:pt x="85344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2298" b="-212298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8534400" cy="6530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40"/>
                </a:lnSpc>
              </a:pPr>
              <a:r>
                <a:rPr lang="en-US" sz="1200" b="1" spc="267">
                  <a:solidFill>
                    <a:srgbClr val="00BCD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HIGHLIGHTS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99344" y="1686224"/>
            <a:ext cx="138855" cy="138855"/>
            <a:chOff x="0" y="0"/>
            <a:chExt cx="277711" cy="277711"/>
          </a:xfrm>
        </p:grpSpPr>
        <p:sp>
          <p:nvSpPr>
            <p:cNvPr id="35" name="Freeform 35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00758F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00758F"/>
            </a:solidFill>
          </p:spPr>
        </p:sp>
      </p:grpSp>
      <p:sp>
        <p:nvSpPr>
          <p:cNvPr id="37" name="TextBox 37"/>
          <p:cNvSpPr txBox="1"/>
          <p:nvPr/>
        </p:nvSpPr>
        <p:spPr>
          <a:xfrm>
            <a:off x="7778496" y="1583944"/>
            <a:ext cx="4120896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20"/>
              </a:lnSpc>
            </a:pPr>
            <a:r>
              <a:rPr lang="en-US" sz="1267">
                <a:solidFill>
                  <a:srgbClr val="CFD8DC"/>
                </a:solidFill>
                <a:latin typeface="Calibri (MS)"/>
                <a:ea typeface="Calibri (MS)"/>
                <a:cs typeface="Calibri (MS)"/>
                <a:sym typeface="Calibri (MS)"/>
              </a:rPr>
              <a:t>Branch-wise revenue breakdown with totals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7599344" y="2125136"/>
            <a:ext cx="138855" cy="138855"/>
            <a:chOff x="0" y="0"/>
            <a:chExt cx="277711" cy="277711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00758F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00758F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7778496" y="2022856"/>
            <a:ext cx="4120896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20"/>
              </a:lnSpc>
            </a:pPr>
            <a:r>
              <a:rPr lang="en-US" sz="1267">
                <a:solidFill>
                  <a:srgbClr val="CFD8DC"/>
                </a:solidFill>
                <a:latin typeface="Calibri (MS)"/>
                <a:ea typeface="Calibri (MS)"/>
                <a:cs typeface="Calibri (MS)"/>
                <a:sym typeface="Calibri (MS)"/>
              </a:rPr>
              <a:t>Age-group and product-group loan segmentation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7599344" y="2564048"/>
            <a:ext cx="138855" cy="138855"/>
            <a:chOff x="0" y="0"/>
            <a:chExt cx="277711" cy="277711"/>
          </a:xfrm>
        </p:grpSpPr>
        <p:sp>
          <p:nvSpPr>
            <p:cNvPr id="43" name="Freeform 43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00758F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00758F"/>
            </a:solidFill>
          </p:spPr>
        </p:sp>
      </p:grpSp>
      <p:sp>
        <p:nvSpPr>
          <p:cNvPr id="45" name="TextBox 45"/>
          <p:cNvSpPr txBox="1"/>
          <p:nvPr/>
        </p:nvSpPr>
        <p:spPr>
          <a:xfrm>
            <a:off x="7778496" y="2461768"/>
            <a:ext cx="4120896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20"/>
              </a:lnSpc>
            </a:pPr>
            <a:r>
              <a:rPr lang="en-US" sz="1267">
                <a:solidFill>
                  <a:srgbClr val="CFD8DC"/>
                </a:solidFill>
                <a:latin typeface="Calibri (MS)"/>
                <a:ea typeface="Calibri (MS)"/>
                <a:cs typeface="Calibri (MS)"/>
                <a:sym typeface="Calibri (MS)"/>
              </a:rPr>
              <a:t>Disbursement trend analysis across FY 2017–2020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7599344" y="3002960"/>
            <a:ext cx="138855" cy="138855"/>
            <a:chOff x="0" y="0"/>
            <a:chExt cx="277711" cy="277711"/>
          </a:xfrm>
        </p:grpSpPr>
        <p:sp>
          <p:nvSpPr>
            <p:cNvPr id="47" name="Freeform 47"/>
            <p:cNvSpPr/>
            <p:nvPr/>
          </p:nvSpPr>
          <p:spPr>
            <a:xfrm>
              <a:off x="16891" y="16891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00758F"/>
            </a:solidFill>
          </p:spPr>
        </p:sp>
        <p:sp>
          <p:nvSpPr>
            <p:cNvPr id="48" name="Freeform 48"/>
            <p:cNvSpPr/>
            <p:nvPr/>
          </p:nvSpPr>
          <p:spPr>
            <a:xfrm>
              <a:off x="0" y="0"/>
              <a:ext cx="277622" cy="277622"/>
            </a:xfrm>
            <a:custGeom>
              <a:avLst/>
              <a:gdLst/>
              <a:ahLst/>
              <a:cxnLst/>
              <a:rect l="l" t="t" r="r" b="b"/>
              <a:pathLst>
                <a:path w="2776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00758F"/>
            </a:solidFill>
          </p:spPr>
        </p:sp>
      </p:grpSp>
      <p:sp>
        <p:nvSpPr>
          <p:cNvPr id="49" name="TextBox 49"/>
          <p:cNvSpPr txBox="1"/>
          <p:nvPr/>
        </p:nvSpPr>
        <p:spPr>
          <a:xfrm>
            <a:off x="7778496" y="2900680"/>
            <a:ext cx="4120896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20"/>
              </a:lnSpc>
            </a:pPr>
            <a:r>
              <a:rPr lang="en-US" sz="1267">
                <a:solidFill>
                  <a:srgbClr val="CFD8DC"/>
                </a:solidFill>
                <a:latin typeface="Calibri (MS)"/>
                <a:ea typeface="Calibri (MS)"/>
                <a:cs typeface="Calibri (MS)"/>
                <a:sym typeface="Calibri (MS)"/>
              </a:rPr>
              <a:t>Loan maturity &amp; religion-wise distribution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7574960" y="3429680"/>
            <a:ext cx="4284135" cy="65703"/>
            <a:chOff x="0" y="0"/>
            <a:chExt cx="8568271" cy="131407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8534400" cy="97536"/>
            </a:xfrm>
            <a:custGeom>
              <a:avLst/>
              <a:gdLst/>
              <a:ahLst/>
              <a:cxnLst/>
              <a:rect l="l" t="t" r="r" b="b"/>
              <a:pathLst>
                <a:path w="8534400" h="97536">
                  <a:moveTo>
                    <a:pt x="0" y="0"/>
                  </a:moveTo>
                  <a:lnTo>
                    <a:pt x="8534400" y="0"/>
                  </a:lnTo>
                  <a:lnTo>
                    <a:pt x="85344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1A2E4A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8568182" cy="131320"/>
            </a:xfrm>
            <a:custGeom>
              <a:avLst/>
              <a:gdLst/>
              <a:ahLst/>
              <a:cxnLst/>
              <a:rect l="l" t="t" r="r" b="b"/>
              <a:pathLst>
                <a:path w="8568182" h="131320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14427"/>
                  </a:lnTo>
                  <a:cubicBezTo>
                    <a:pt x="8568182" y="123825"/>
                    <a:pt x="8560562" y="131318"/>
                    <a:pt x="85512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8551291" y="97536"/>
                  </a:lnTo>
                  <a:lnTo>
                    <a:pt x="8551291" y="114427"/>
                  </a:lnTo>
                  <a:lnTo>
                    <a:pt x="8534400" y="114427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E4A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7583424" y="3535680"/>
            <a:ext cx="4267200" cy="316992"/>
            <a:chOff x="0" y="0"/>
            <a:chExt cx="8534400" cy="63398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534400" cy="633984"/>
            </a:xfrm>
            <a:custGeom>
              <a:avLst/>
              <a:gdLst/>
              <a:ahLst/>
              <a:cxnLst/>
              <a:rect l="l" t="t" r="r" b="b"/>
              <a:pathLst>
                <a:path w="8534400" h="633984">
                  <a:moveTo>
                    <a:pt x="0" y="0"/>
                  </a:moveTo>
                  <a:lnTo>
                    <a:pt x="8534400" y="0"/>
                  </a:lnTo>
                  <a:lnTo>
                    <a:pt x="85344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2298" b="-212298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8534400" cy="6530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40"/>
                </a:lnSpc>
              </a:pPr>
              <a:r>
                <a:rPr lang="en-US" sz="1200" b="1" spc="267">
                  <a:solidFill>
                    <a:srgbClr val="EF535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CHALLENGES FACED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599344" y="3990512"/>
            <a:ext cx="126663" cy="126663"/>
            <a:chOff x="0" y="0"/>
            <a:chExt cx="253327" cy="253327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219456" cy="219456"/>
            </a:xfrm>
            <a:custGeom>
              <a:avLst/>
              <a:gdLst/>
              <a:ahLst/>
              <a:cxnLst/>
              <a:rect l="l" t="t" r="r" b="b"/>
              <a:pathLst>
                <a:path w="219456" h="219456">
                  <a:moveTo>
                    <a:pt x="0" y="0"/>
                  </a:moveTo>
                  <a:lnTo>
                    <a:pt x="219456" y="0"/>
                  </a:lnTo>
                  <a:lnTo>
                    <a:pt x="21945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EF5350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253238" cy="253240"/>
            </a:xfrm>
            <a:custGeom>
              <a:avLst/>
              <a:gdLst/>
              <a:ahLst/>
              <a:cxnLst/>
              <a:rect l="l" t="t" r="r" b="b"/>
              <a:pathLst>
                <a:path w="253238" h="253240">
                  <a:moveTo>
                    <a:pt x="16891" y="0"/>
                  </a:moveTo>
                  <a:lnTo>
                    <a:pt x="236347" y="0"/>
                  </a:lnTo>
                  <a:cubicBezTo>
                    <a:pt x="245745" y="0"/>
                    <a:pt x="253238" y="7620"/>
                    <a:pt x="253238" y="16891"/>
                  </a:cubicBezTo>
                  <a:lnTo>
                    <a:pt x="253238" y="236347"/>
                  </a:lnTo>
                  <a:cubicBezTo>
                    <a:pt x="253238" y="245745"/>
                    <a:pt x="245618" y="253238"/>
                    <a:pt x="236347" y="253238"/>
                  </a:cubicBezTo>
                  <a:lnTo>
                    <a:pt x="16891" y="253238"/>
                  </a:lnTo>
                  <a:cubicBezTo>
                    <a:pt x="7620" y="253365"/>
                    <a:pt x="0" y="245745"/>
                    <a:pt x="0" y="2363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6347"/>
                  </a:lnTo>
                  <a:lnTo>
                    <a:pt x="16891" y="236347"/>
                  </a:lnTo>
                  <a:lnTo>
                    <a:pt x="16891" y="219456"/>
                  </a:lnTo>
                  <a:lnTo>
                    <a:pt x="236347" y="219456"/>
                  </a:lnTo>
                  <a:lnTo>
                    <a:pt x="236347" y="236347"/>
                  </a:lnTo>
                  <a:lnTo>
                    <a:pt x="219456" y="236347"/>
                  </a:lnTo>
                  <a:lnTo>
                    <a:pt x="219456" y="16891"/>
                  </a:lnTo>
                  <a:lnTo>
                    <a:pt x="236347" y="16891"/>
                  </a:lnTo>
                  <a:lnTo>
                    <a:pt x="2363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5350"/>
            </a:solidFill>
          </p:spPr>
        </p:sp>
      </p:grpSp>
      <p:sp>
        <p:nvSpPr>
          <p:cNvPr id="59" name="TextBox 59"/>
          <p:cNvSpPr txBox="1"/>
          <p:nvPr/>
        </p:nvSpPr>
        <p:spPr>
          <a:xfrm>
            <a:off x="7778496" y="3876040"/>
            <a:ext cx="4120896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>
                <a:solidFill>
                  <a:srgbClr val="FFCDD2"/>
                </a:solidFill>
                <a:latin typeface="Calibri (MS)"/>
                <a:ea typeface="Calibri (MS)"/>
                <a:cs typeface="Calibri (MS)"/>
                <a:sym typeface="Calibri (MS)"/>
              </a:rPr>
              <a:t>Writing multi-level nested subqueries for aggregation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7599344" y="4319696"/>
            <a:ext cx="126663" cy="126663"/>
            <a:chOff x="0" y="0"/>
            <a:chExt cx="253327" cy="253327"/>
          </a:xfrm>
        </p:grpSpPr>
        <p:sp>
          <p:nvSpPr>
            <p:cNvPr id="61" name="Freeform 61"/>
            <p:cNvSpPr/>
            <p:nvPr/>
          </p:nvSpPr>
          <p:spPr>
            <a:xfrm>
              <a:off x="16891" y="16891"/>
              <a:ext cx="219456" cy="219456"/>
            </a:xfrm>
            <a:custGeom>
              <a:avLst/>
              <a:gdLst/>
              <a:ahLst/>
              <a:cxnLst/>
              <a:rect l="l" t="t" r="r" b="b"/>
              <a:pathLst>
                <a:path w="219456" h="219456">
                  <a:moveTo>
                    <a:pt x="0" y="0"/>
                  </a:moveTo>
                  <a:lnTo>
                    <a:pt x="219456" y="0"/>
                  </a:lnTo>
                  <a:lnTo>
                    <a:pt x="21945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EF5350"/>
            </a:solidFill>
          </p:spPr>
        </p:sp>
        <p:sp>
          <p:nvSpPr>
            <p:cNvPr id="62" name="Freeform 62"/>
            <p:cNvSpPr/>
            <p:nvPr/>
          </p:nvSpPr>
          <p:spPr>
            <a:xfrm>
              <a:off x="0" y="0"/>
              <a:ext cx="253238" cy="253240"/>
            </a:xfrm>
            <a:custGeom>
              <a:avLst/>
              <a:gdLst/>
              <a:ahLst/>
              <a:cxnLst/>
              <a:rect l="l" t="t" r="r" b="b"/>
              <a:pathLst>
                <a:path w="253238" h="253240">
                  <a:moveTo>
                    <a:pt x="16891" y="0"/>
                  </a:moveTo>
                  <a:lnTo>
                    <a:pt x="236347" y="0"/>
                  </a:lnTo>
                  <a:cubicBezTo>
                    <a:pt x="245745" y="0"/>
                    <a:pt x="253238" y="7620"/>
                    <a:pt x="253238" y="16891"/>
                  </a:cubicBezTo>
                  <a:lnTo>
                    <a:pt x="253238" y="236347"/>
                  </a:lnTo>
                  <a:cubicBezTo>
                    <a:pt x="253238" y="245745"/>
                    <a:pt x="245618" y="253238"/>
                    <a:pt x="236347" y="253238"/>
                  </a:cubicBezTo>
                  <a:lnTo>
                    <a:pt x="16891" y="253238"/>
                  </a:lnTo>
                  <a:cubicBezTo>
                    <a:pt x="7620" y="253365"/>
                    <a:pt x="0" y="245745"/>
                    <a:pt x="0" y="2363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6347"/>
                  </a:lnTo>
                  <a:lnTo>
                    <a:pt x="16891" y="236347"/>
                  </a:lnTo>
                  <a:lnTo>
                    <a:pt x="16891" y="219456"/>
                  </a:lnTo>
                  <a:lnTo>
                    <a:pt x="236347" y="219456"/>
                  </a:lnTo>
                  <a:lnTo>
                    <a:pt x="236347" y="236347"/>
                  </a:lnTo>
                  <a:lnTo>
                    <a:pt x="219456" y="236347"/>
                  </a:lnTo>
                  <a:lnTo>
                    <a:pt x="219456" y="16891"/>
                  </a:lnTo>
                  <a:lnTo>
                    <a:pt x="236347" y="16891"/>
                  </a:lnTo>
                  <a:lnTo>
                    <a:pt x="2363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5350"/>
            </a:solidFill>
          </p:spPr>
        </p:sp>
      </p:grpSp>
      <p:sp>
        <p:nvSpPr>
          <p:cNvPr id="63" name="TextBox 63"/>
          <p:cNvSpPr txBox="1"/>
          <p:nvPr/>
        </p:nvSpPr>
        <p:spPr>
          <a:xfrm>
            <a:off x="7778496" y="4205224"/>
            <a:ext cx="4120896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>
                <a:solidFill>
                  <a:srgbClr val="FFCDD2"/>
                </a:solidFill>
                <a:latin typeface="Calibri (MS)"/>
                <a:ea typeface="Calibri (MS)"/>
                <a:cs typeface="Calibri (MS)"/>
                <a:sym typeface="Calibri (MS)"/>
              </a:rPr>
              <a:t>Handling NULL values across joined tables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7599344" y="4648880"/>
            <a:ext cx="126663" cy="126663"/>
            <a:chOff x="0" y="0"/>
            <a:chExt cx="253327" cy="253327"/>
          </a:xfrm>
        </p:grpSpPr>
        <p:sp>
          <p:nvSpPr>
            <p:cNvPr id="65" name="Freeform 65"/>
            <p:cNvSpPr/>
            <p:nvPr/>
          </p:nvSpPr>
          <p:spPr>
            <a:xfrm>
              <a:off x="16891" y="16891"/>
              <a:ext cx="219456" cy="219456"/>
            </a:xfrm>
            <a:custGeom>
              <a:avLst/>
              <a:gdLst/>
              <a:ahLst/>
              <a:cxnLst/>
              <a:rect l="l" t="t" r="r" b="b"/>
              <a:pathLst>
                <a:path w="219456" h="219456">
                  <a:moveTo>
                    <a:pt x="0" y="0"/>
                  </a:moveTo>
                  <a:lnTo>
                    <a:pt x="219456" y="0"/>
                  </a:lnTo>
                  <a:lnTo>
                    <a:pt x="21945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EF5350"/>
            </a:solidFill>
          </p:spPr>
        </p:sp>
        <p:sp>
          <p:nvSpPr>
            <p:cNvPr id="66" name="Freeform 66"/>
            <p:cNvSpPr/>
            <p:nvPr/>
          </p:nvSpPr>
          <p:spPr>
            <a:xfrm>
              <a:off x="0" y="0"/>
              <a:ext cx="253238" cy="253240"/>
            </a:xfrm>
            <a:custGeom>
              <a:avLst/>
              <a:gdLst/>
              <a:ahLst/>
              <a:cxnLst/>
              <a:rect l="l" t="t" r="r" b="b"/>
              <a:pathLst>
                <a:path w="253238" h="253240">
                  <a:moveTo>
                    <a:pt x="16891" y="0"/>
                  </a:moveTo>
                  <a:lnTo>
                    <a:pt x="236347" y="0"/>
                  </a:lnTo>
                  <a:cubicBezTo>
                    <a:pt x="245745" y="0"/>
                    <a:pt x="253238" y="7620"/>
                    <a:pt x="253238" y="16891"/>
                  </a:cubicBezTo>
                  <a:lnTo>
                    <a:pt x="253238" y="236347"/>
                  </a:lnTo>
                  <a:cubicBezTo>
                    <a:pt x="253238" y="245745"/>
                    <a:pt x="245618" y="253238"/>
                    <a:pt x="236347" y="253238"/>
                  </a:cubicBezTo>
                  <a:lnTo>
                    <a:pt x="16891" y="253238"/>
                  </a:lnTo>
                  <a:cubicBezTo>
                    <a:pt x="7620" y="253365"/>
                    <a:pt x="0" y="245745"/>
                    <a:pt x="0" y="2363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6347"/>
                  </a:lnTo>
                  <a:lnTo>
                    <a:pt x="16891" y="236347"/>
                  </a:lnTo>
                  <a:lnTo>
                    <a:pt x="16891" y="219456"/>
                  </a:lnTo>
                  <a:lnTo>
                    <a:pt x="236347" y="219456"/>
                  </a:lnTo>
                  <a:lnTo>
                    <a:pt x="236347" y="236347"/>
                  </a:lnTo>
                  <a:lnTo>
                    <a:pt x="219456" y="236347"/>
                  </a:lnTo>
                  <a:lnTo>
                    <a:pt x="219456" y="16891"/>
                  </a:lnTo>
                  <a:lnTo>
                    <a:pt x="236347" y="16891"/>
                  </a:lnTo>
                  <a:lnTo>
                    <a:pt x="2363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5350"/>
            </a:solidFill>
          </p:spPr>
        </p:sp>
      </p:grpSp>
      <p:sp>
        <p:nvSpPr>
          <p:cNvPr id="67" name="TextBox 67"/>
          <p:cNvSpPr txBox="1"/>
          <p:nvPr/>
        </p:nvSpPr>
        <p:spPr>
          <a:xfrm>
            <a:off x="7778496" y="4534408"/>
            <a:ext cx="4120896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>
                <a:solidFill>
                  <a:srgbClr val="FFCDD2"/>
                </a:solidFill>
                <a:latin typeface="Calibri (MS)"/>
                <a:ea typeface="Calibri (MS)"/>
                <a:cs typeface="Calibri (MS)"/>
                <a:sym typeface="Calibri (MS)"/>
              </a:rPr>
              <a:t>Optimizing slow queries on 50,000+ record datasets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7599344" y="4978064"/>
            <a:ext cx="126663" cy="126663"/>
            <a:chOff x="0" y="0"/>
            <a:chExt cx="253327" cy="253327"/>
          </a:xfrm>
        </p:grpSpPr>
        <p:sp>
          <p:nvSpPr>
            <p:cNvPr id="69" name="Freeform 69"/>
            <p:cNvSpPr/>
            <p:nvPr/>
          </p:nvSpPr>
          <p:spPr>
            <a:xfrm>
              <a:off x="16891" y="16891"/>
              <a:ext cx="219456" cy="219456"/>
            </a:xfrm>
            <a:custGeom>
              <a:avLst/>
              <a:gdLst/>
              <a:ahLst/>
              <a:cxnLst/>
              <a:rect l="l" t="t" r="r" b="b"/>
              <a:pathLst>
                <a:path w="219456" h="219456">
                  <a:moveTo>
                    <a:pt x="0" y="0"/>
                  </a:moveTo>
                  <a:lnTo>
                    <a:pt x="219456" y="0"/>
                  </a:lnTo>
                  <a:lnTo>
                    <a:pt x="21945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EF5350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253238" cy="253240"/>
            </a:xfrm>
            <a:custGeom>
              <a:avLst/>
              <a:gdLst/>
              <a:ahLst/>
              <a:cxnLst/>
              <a:rect l="l" t="t" r="r" b="b"/>
              <a:pathLst>
                <a:path w="253238" h="253240">
                  <a:moveTo>
                    <a:pt x="16891" y="0"/>
                  </a:moveTo>
                  <a:lnTo>
                    <a:pt x="236347" y="0"/>
                  </a:lnTo>
                  <a:cubicBezTo>
                    <a:pt x="245745" y="0"/>
                    <a:pt x="253238" y="7620"/>
                    <a:pt x="253238" y="16891"/>
                  </a:cubicBezTo>
                  <a:lnTo>
                    <a:pt x="253238" y="236347"/>
                  </a:lnTo>
                  <a:cubicBezTo>
                    <a:pt x="253238" y="245745"/>
                    <a:pt x="245618" y="253238"/>
                    <a:pt x="236347" y="253238"/>
                  </a:cubicBezTo>
                  <a:lnTo>
                    <a:pt x="16891" y="253238"/>
                  </a:lnTo>
                  <a:cubicBezTo>
                    <a:pt x="7620" y="253365"/>
                    <a:pt x="0" y="245745"/>
                    <a:pt x="0" y="2363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6347"/>
                  </a:lnTo>
                  <a:lnTo>
                    <a:pt x="16891" y="236347"/>
                  </a:lnTo>
                  <a:lnTo>
                    <a:pt x="16891" y="219456"/>
                  </a:lnTo>
                  <a:lnTo>
                    <a:pt x="236347" y="219456"/>
                  </a:lnTo>
                  <a:lnTo>
                    <a:pt x="236347" y="236347"/>
                  </a:lnTo>
                  <a:lnTo>
                    <a:pt x="219456" y="236347"/>
                  </a:lnTo>
                  <a:lnTo>
                    <a:pt x="219456" y="16891"/>
                  </a:lnTo>
                  <a:lnTo>
                    <a:pt x="236347" y="16891"/>
                  </a:lnTo>
                  <a:lnTo>
                    <a:pt x="2363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5350"/>
            </a:solidFill>
          </p:spPr>
        </p:sp>
      </p:grpSp>
      <p:sp>
        <p:nvSpPr>
          <p:cNvPr id="71" name="TextBox 71"/>
          <p:cNvSpPr txBox="1"/>
          <p:nvPr/>
        </p:nvSpPr>
        <p:spPr>
          <a:xfrm>
            <a:off x="7778496" y="4863592"/>
            <a:ext cx="4120896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 dirty="0">
                <a:solidFill>
                  <a:srgbClr val="FFCDD2"/>
                </a:solidFill>
                <a:latin typeface="Calibri (MS)"/>
                <a:ea typeface="Calibri (MS)"/>
                <a:cs typeface="Calibri (MS)"/>
                <a:sym typeface="Calibri (MS)"/>
              </a:rPr>
              <a:t>Grouping and pivoting data without native PIVOT support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210992" y="5331632"/>
            <a:ext cx="11989479" cy="650919"/>
            <a:chOff x="0" y="0"/>
            <a:chExt cx="23978959" cy="1301839"/>
          </a:xfrm>
        </p:grpSpPr>
        <p:sp>
          <p:nvSpPr>
            <p:cNvPr id="73" name="Freeform 73"/>
            <p:cNvSpPr/>
            <p:nvPr/>
          </p:nvSpPr>
          <p:spPr>
            <a:xfrm>
              <a:off x="16891" y="16891"/>
              <a:ext cx="23945088" cy="1267968"/>
            </a:xfrm>
            <a:custGeom>
              <a:avLst/>
              <a:gdLst/>
              <a:ahLst/>
              <a:cxnLst/>
              <a:rect l="l" t="t" r="r" b="b"/>
              <a:pathLst>
                <a:path w="23945088" h="1267968">
                  <a:moveTo>
                    <a:pt x="0" y="0"/>
                  </a:moveTo>
                  <a:lnTo>
                    <a:pt x="23945088" y="0"/>
                  </a:lnTo>
                  <a:lnTo>
                    <a:pt x="2394508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F1F38"/>
            </a:solidFill>
          </p:spPr>
        </p:sp>
        <p:sp>
          <p:nvSpPr>
            <p:cNvPr id="74" name="Freeform 74"/>
            <p:cNvSpPr/>
            <p:nvPr/>
          </p:nvSpPr>
          <p:spPr>
            <a:xfrm>
              <a:off x="0" y="0"/>
              <a:ext cx="23978870" cy="1301750"/>
            </a:xfrm>
            <a:custGeom>
              <a:avLst/>
              <a:gdLst/>
              <a:ahLst/>
              <a:cxnLst/>
              <a:rect l="l" t="t" r="r" b="b"/>
              <a:pathLst>
                <a:path w="23978870" h="1301750">
                  <a:moveTo>
                    <a:pt x="16891" y="0"/>
                  </a:moveTo>
                  <a:lnTo>
                    <a:pt x="23961979" y="0"/>
                  </a:lnTo>
                  <a:cubicBezTo>
                    <a:pt x="23971377" y="0"/>
                    <a:pt x="23978870" y="7620"/>
                    <a:pt x="23978870" y="16891"/>
                  </a:cubicBezTo>
                  <a:lnTo>
                    <a:pt x="23978870" y="1284859"/>
                  </a:lnTo>
                  <a:cubicBezTo>
                    <a:pt x="23978870" y="1294257"/>
                    <a:pt x="23971250" y="1301750"/>
                    <a:pt x="2396197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23961979" y="1267968"/>
                  </a:lnTo>
                  <a:lnTo>
                    <a:pt x="23961979" y="1284859"/>
                  </a:lnTo>
                  <a:lnTo>
                    <a:pt x="23945089" y="1284859"/>
                  </a:lnTo>
                  <a:lnTo>
                    <a:pt x="23945089" y="16891"/>
                  </a:lnTo>
                  <a:lnTo>
                    <a:pt x="23961979" y="16891"/>
                  </a:lnTo>
                  <a:lnTo>
                    <a:pt x="239619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E4A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1524000" y="5462016"/>
            <a:ext cx="10485120" cy="316992"/>
            <a:chOff x="0" y="0"/>
            <a:chExt cx="20970240" cy="633984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0970239" cy="633984"/>
            </a:xfrm>
            <a:custGeom>
              <a:avLst/>
              <a:gdLst/>
              <a:ahLst/>
              <a:cxnLst/>
              <a:rect l="l" t="t" r="r" b="b"/>
              <a:pathLst>
                <a:path w="20970239" h="633984">
                  <a:moveTo>
                    <a:pt x="0" y="0"/>
                  </a:moveTo>
                  <a:lnTo>
                    <a:pt x="20970239" y="0"/>
                  </a:lnTo>
                  <a:lnTo>
                    <a:pt x="20970239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4505" b="-594505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20970240" cy="6720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00"/>
                </a:lnSpc>
              </a:pPr>
              <a:r>
                <a:rPr lang="en-US" sz="1333" b="1">
                  <a:solidFill>
                    <a:srgbClr val="ECEFF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Loan Dashboard  —  Data Extraction &amp; Reporting using SQL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-8464" y="6782480"/>
            <a:ext cx="12208935" cy="83991"/>
            <a:chOff x="0" y="0"/>
            <a:chExt cx="24417871" cy="167983"/>
          </a:xfrm>
        </p:grpSpPr>
        <p:sp>
          <p:nvSpPr>
            <p:cNvPr id="85" name="Freeform 85"/>
            <p:cNvSpPr/>
            <p:nvPr/>
          </p:nvSpPr>
          <p:spPr>
            <a:xfrm>
              <a:off x="16891" y="16891"/>
              <a:ext cx="24383999" cy="134112"/>
            </a:xfrm>
            <a:custGeom>
              <a:avLst/>
              <a:gdLst/>
              <a:ahLst/>
              <a:cxnLst/>
              <a:rect l="l" t="t" r="r" b="b"/>
              <a:pathLst>
                <a:path w="24383999" h="134112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0758F"/>
            </a:solidFill>
          </p:spPr>
        </p:sp>
        <p:sp>
          <p:nvSpPr>
            <p:cNvPr id="86" name="Freeform 86"/>
            <p:cNvSpPr/>
            <p:nvPr/>
          </p:nvSpPr>
          <p:spPr>
            <a:xfrm>
              <a:off x="0" y="0"/>
              <a:ext cx="24417782" cy="167896"/>
            </a:xfrm>
            <a:custGeom>
              <a:avLst/>
              <a:gdLst/>
              <a:ahLst/>
              <a:cxnLst/>
              <a:rect l="l" t="t" r="r" b="b"/>
              <a:pathLst>
                <a:path w="24417782" h="167896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58F"/>
            </a:solidFill>
          </p:spPr>
        </p:sp>
      </p:grpSp>
      <p:sp>
        <p:nvSpPr>
          <p:cNvPr id="92" name="Rectangle 91"/>
          <p:cNvSpPr/>
          <p:nvPr/>
        </p:nvSpPr>
        <p:spPr>
          <a:xfrm>
            <a:off x="545037" y="324708"/>
            <a:ext cx="954107" cy="3359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EXCEL</a:t>
            </a:r>
          </a:p>
        </p:txBody>
      </p:sp>
    </p:spTree>
    <p:extLst>
      <p:ext uri="{BB962C8B-B14F-4D97-AF65-F5344CB8AC3E}">
        <p14:creationId xmlns:p14="http://schemas.microsoft.com/office/powerpoint/2010/main" val="42835548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464" y="-8464"/>
            <a:ext cx="236391" cy="6874935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438912" cy="13715999"/>
            </a:xfrm>
            <a:custGeom>
              <a:avLst/>
              <a:gdLst/>
              <a:ahLst/>
              <a:cxnLst/>
              <a:rect l="l" t="t" r="r" b="b"/>
              <a:pathLst>
                <a:path w="438912" h="13715999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C0580A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472694" cy="13749782"/>
            </a:xfrm>
            <a:custGeom>
              <a:avLst/>
              <a:gdLst/>
              <a:ahLst/>
              <a:cxnLst/>
              <a:rect l="l" t="t" r="r" b="b"/>
              <a:pathLst>
                <a:path w="472694" h="13749782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580A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10992" y="-49870"/>
            <a:ext cx="11989479" cy="967911"/>
            <a:chOff x="0" y="0"/>
            <a:chExt cx="23978959" cy="1935823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3945088" cy="1901952"/>
            </a:xfrm>
            <a:custGeom>
              <a:avLst/>
              <a:gdLst/>
              <a:ahLst/>
              <a:cxnLst/>
              <a:rect l="l" t="t" r="r" b="b"/>
              <a:pathLst>
                <a:path w="23945088" h="1901952">
                  <a:moveTo>
                    <a:pt x="0" y="0"/>
                  </a:moveTo>
                  <a:lnTo>
                    <a:pt x="23945088" y="0"/>
                  </a:lnTo>
                  <a:lnTo>
                    <a:pt x="239450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F1F38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3978870" cy="1935734"/>
            </a:xfrm>
            <a:custGeom>
              <a:avLst/>
              <a:gdLst/>
              <a:ahLst/>
              <a:cxnLst/>
              <a:rect l="l" t="t" r="r" b="b"/>
              <a:pathLst>
                <a:path w="23978870" h="1935734">
                  <a:moveTo>
                    <a:pt x="16891" y="0"/>
                  </a:moveTo>
                  <a:lnTo>
                    <a:pt x="23961979" y="0"/>
                  </a:lnTo>
                  <a:cubicBezTo>
                    <a:pt x="23971377" y="0"/>
                    <a:pt x="23978870" y="7620"/>
                    <a:pt x="23978870" y="16891"/>
                  </a:cubicBezTo>
                  <a:lnTo>
                    <a:pt x="23978870" y="1918843"/>
                  </a:lnTo>
                  <a:cubicBezTo>
                    <a:pt x="23978870" y="1928241"/>
                    <a:pt x="23971250" y="1935734"/>
                    <a:pt x="239619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3961979" y="1901952"/>
                  </a:lnTo>
                  <a:lnTo>
                    <a:pt x="23961979" y="1918843"/>
                  </a:lnTo>
                  <a:lnTo>
                    <a:pt x="23945089" y="1918843"/>
                  </a:lnTo>
                  <a:lnTo>
                    <a:pt x="23945089" y="16891"/>
                  </a:lnTo>
                  <a:lnTo>
                    <a:pt x="23961979" y="16891"/>
                  </a:lnTo>
                  <a:lnTo>
                    <a:pt x="239619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1F38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357296" y="162224"/>
            <a:ext cx="1601895" cy="455847"/>
            <a:chOff x="0" y="0"/>
            <a:chExt cx="3203791" cy="911695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3169920" cy="877824"/>
            </a:xfrm>
            <a:custGeom>
              <a:avLst/>
              <a:gdLst/>
              <a:ahLst/>
              <a:cxnLst/>
              <a:rect l="l" t="t" r="r" b="b"/>
              <a:pathLst>
                <a:path w="3169920" h="877824">
                  <a:moveTo>
                    <a:pt x="0" y="0"/>
                  </a:moveTo>
                  <a:lnTo>
                    <a:pt x="3169920" y="0"/>
                  </a:lnTo>
                  <a:lnTo>
                    <a:pt x="31699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C0580A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203702" cy="911608"/>
            </a:xfrm>
            <a:custGeom>
              <a:avLst/>
              <a:gdLst/>
              <a:ahLst/>
              <a:cxnLst/>
              <a:rect l="l" t="t" r="r" b="b"/>
              <a:pathLst>
                <a:path w="3203702" h="911608">
                  <a:moveTo>
                    <a:pt x="16891" y="0"/>
                  </a:moveTo>
                  <a:lnTo>
                    <a:pt x="3186811" y="0"/>
                  </a:lnTo>
                  <a:cubicBezTo>
                    <a:pt x="3196209" y="0"/>
                    <a:pt x="3203702" y="7620"/>
                    <a:pt x="3203702" y="16891"/>
                  </a:cubicBezTo>
                  <a:lnTo>
                    <a:pt x="3203702" y="894715"/>
                  </a:lnTo>
                  <a:cubicBezTo>
                    <a:pt x="3203702" y="904113"/>
                    <a:pt x="3196082" y="911606"/>
                    <a:pt x="318681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3186811" y="877824"/>
                  </a:lnTo>
                  <a:lnTo>
                    <a:pt x="3186811" y="894715"/>
                  </a:lnTo>
                  <a:lnTo>
                    <a:pt x="3169920" y="894715"/>
                  </a:lnTo>
                  <a:lnTo>
                    <a:pt x="3169920" y="16891"/>
                  </a:lnTo>
                  <a:lnTo>
                    <a:pt x="3186811" y="16891"/>
                  </a:lnTo>
                  <a:lnTo>
                    <a:pt x="3186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580A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65760" y="170688"/>
            <a:ext cx="1584960" cy="438912"/>
            <a:chOff x="0" y="0"/>
            <a:chExt cx="3169920" cy="8778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69920" cy="877824"/>
            </a:xfrm>
            <a:custGeom>
              <a:avLst/>
              <a:gdLst/>
              <a:ahLst/>
              <a:cxnLst/>
              <a:rect l="l" t="t" r="r" b="b"/>
              <a:pathLst>
                <a:path w="3169920" h="877824">
                  <a:moveTo>
                    <a:pt x="0" y="0"/>
                  </a:moveTo>
                  <a:lnTo>
                    <a:pt x="3169920" y="0"/>
                  </a:lnTo>
                  <a:lnTo>
                    <a:pt x="3169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62" b="-2036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3169920" cy="8873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19"/>
                </a:lnSpc>
              </a:pPr>
              <a:r>
                <a:rPr lang="en-US" sz="16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TABLEAU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097024" y="121920"/>
            <a:ext cx="7924800" cy="438912"/>
            <a:chOff x="0" y="0"/>
            <a:chExt cx="15849600" cy="87782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849600" cy="877824"/>
            </a:xfrm>
            <a:custGeom>
              <a:avLst/>
              <a:gdLst/>
              <a:ahLst/>
              <a:cxnLst/>
              <a:rect l="l" t="t" r="r" b="b"/>
              <a:pathLst>
                <a:path w="15849600" h="877824">
                  <a:moveTo>
                    <a:pt x="0" y="0"/>
                  </a:moveTo>
                  <a:lnTo>
                    <a:pt x="15849600" y="0"/>
                  </a:lnTo>
                  <a:lnTo>
                    <a:pt x="15849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1813" b="-30181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15849600" cy="9444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719"/>
                </a:lnSpc>
              </a:pPr>
              <a:r>
                <a:rPr lang="en-US" sz="2267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Bank Debit &amp; Credit Dashboard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097024" y="560832"/>
            <a:ext cx="7924800" cy="316992"/>
            <a:chOff x="0" y="0"/>
            <a:chExt cx="15849600" cy="63398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849600" cy="633984"/>
            </a:xfrm>
            <a:custGeom>
              <a:avLst/>
              <a:gdLst/>
              <a:ahLst/>
              <a:cxnLst/>
              <a:rect l="l" t="t" r="r" b="b"/>
              <a:pathLst>
                <a:path w="15849600" h="633984">
                  <a:moveTo>
                    <a:pt x="0" y="0"/>
                  </a:moveTo>
                  <a:lnTo>
                    <a:pt x="15849600" y="0"/>
                  </a:lnTo>
                  <a:lnTo>
                    <a:pt x="15849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5849600" cy="6720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00"/>
                </a:lnSpc>
              </a:pPr>
              <a:r>
                <a:rPr lang="en-US" sz="1333" i="1">
                  <a:solidFill>
                    <a:srgbClr val="42A5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Multi-dimensional Loan Analysis using Tableau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546080" y="292608"/>
            <a:ext cx="1463040" cy="341376"/>
            <a:chOff x="0" y="0"/>
            <a:chExt cx="2926080" cy="68275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926080" cy="682752"/>
            </a:xfrm>
            <a:custGeom>
              <a:avLst/>
              <a:gdLst/>
              <a:ahLst/>
              <a:cxnLst/>
              <a:rect l="l" t="t" r="r" b="b"/>
              <a:pathLst>
                <a:path w="2926080" h="682752">
                  <a:moveTo>
                    <a:pt x="0" y="0"/>
                  </a:moveTo>
                  <a:lnTo>
                    <a:pt x="2926080" y="0"/>
                  </a:lnTo>
                  <a:lnTo>
                    <a:pt x="2926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07" b="-3350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92608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760"/>
                </a:lnSpc>
              </a:pPr>
              <a:r>
                <a:rPr lang="en-US" sz="1467">
                  <a:solidFill>
                    <a:srgbClr val="3747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/ 5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-8464" y="6782480"/>
            <a:ext cx="12208935" cy="83991"/>
            <a:chOff x="0" y="0"/>
            <a:chExt cx="24417871" cy="167983"/>
          </a:xfrm>
        </p:grpSpPr>
        <p:sp>
          <p:nvSpPr>
            <p:cNvPr id="85" name="Freeform 85"/>
            <p:cNvSpPr/>
            <p:nvPr/>
          </p:nvSpPr>
          <p:spPr>
            <a:xfrm>
              <a:off x="16891" y="16891"/>
              <a:ext cx="24383999" cy="134112"/>
            </a:xfrm>
            <a:custGeom>
              <a:avLst/>
              <a:gdLst/>
              <a:ahLst/>
              <a:cxnLst/>
              <a:rect l="l" t="t" r="r" b="b"/>
              <a:pathLst>
                <a:path w="24383999" h="134112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0580A"/>
            </a:solidFill>
          </p:spPr>
        </p:sp>
        <p:sp>
          <p:nvSpPr>
            <p:cNvPr id="86" name="Freeform 86"/>
            <p:cNvSpPr/>
            <p:nvPr/>
          </p:nvSpPr>
          <p:spPr>
            <a:xfrm>
              <a:off x="0" y="0"/>
              <a:ext cx="24417782" cy="167896"/>
            </a:xfrm>
            <a:custGeom>
              <a:avLst/>
              <a:gdLst/>
              <a:ahLst/>
              <a:cxnLst/>
              <a:rect l="l" t="t" r="r" b="b"/>
              <a:pathLst>
                <a:path w="24417782" h="167896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580A"/>
            </a:solidFill>
          </p:spPr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42" y="850112"/>
            <a:ext cx="10418236" cy="586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0596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464" y="-8464"/>
            <a:ext cx="236391" cy="6874935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438912" cy="13715999"/>
            </a:xfrm>
            <a:custGeom>
              <a:avLst/>
              <a:gdLst/>
              <a:ahLst/>
              <a:cxnLst/>
              <a:rect l="l" t="t" r="r" b="b"/>
              <a:pathLst>
                <a:path w="438912" h="13715999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C0580A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472694" cy="13749782"/>
            </a:xfrm>
            <a:custGeom>
              <a:avLst/>
              <a:gdLst/>
              <a:ahLst/>
              <a:cxnLst/>
              <a:rect l="l" t="t" r="r" b="b"/>
              <a:pathLst>
                <a:path w="472694" h="13749782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580A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10992" y="-49870"/>
            <a:ext cx="11989479" cy="967911"/>
            <a:chOff x="0" y="0"/>
            <a:chExt cx="23978959" cy="1935823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3945088" cy="1901952"/>
            </a:xfrm>
            <a:custGeom>
              <a:avLst/>
              <a:gdLst/>
              <a:ahLst/>
              <a:cxnLst/>
              <a:rect l="l" t="t" r="r" b="b"/>
              <a:pathLst>
                <a:path w="23945088" h="1901952">
                  <a:moveTo>
                    <a:pt x="0" y="0"/>
                  </a:moveTo>
                  <a:lnTo>
                    <a:pt x="23945088" y="0"/>
                  </a:lnTo>
                  <a:lnTo>
                    <a:pt x="239450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F1F38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3978870" cy="1935734"/>
            </a:xfrm>
            <a:custGeom>
              <a:avLst/>
              <a:gdLst/>
              <a:ahLst/>
              <a:cxnLst/>
              <a:rect l="l" t="t" r="r" b="b"/>
              <a:pathLst>
                <a:path w="23978870" h="1935734">
                  <a:moveTo>
                    <a:pt x="16891" y="0"/>
                  </a:moveTo>
                  <a:lnTo>
                    <a:pt x="23961979" y="0"/>
                  </a:lnTo>
                  <a:cubicBezTo>
                    <a:pt x="23971377" y="0"/>
                    <a:pt x="23978870" y="7620"/>
                    <a:pt x="23978870" y="16891"/>
                  </a:cubicBezTo>
                  <a:lnTo>
                    <a:pt x="23978870" y="1918843"/>
                  </a:lnTo>
                  <a:cubicBezTo>
                    <a:pt x="23978870" y="1928241"/>
                    <a:pt x="23971250" y="1935734"/>
                    <a:pt x="239619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3961979" y="1901952"/>
                  </a:lnTo>
                  <a:lnTo>
                    <a:pt x="23961979" y="1918843"/>
                  </a:lnTo>
                  <a:lnTo>
                    <a:pt x="23945089" y="1918843"/>
                  </a:lnTo>
                  <a:lnTo>
                    <a:pt x="23945089" y="16891"/>
                  </a:lnTo>
                  <a:lnTo>
                    <a:pt x="23961979" y="16891"/>
                  </a:lnTo>
                  <a:lnTo>
                    <a:pt x="239619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1F38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357296" y="162224"/>
            <a:ext cx="1601895" cy="455847"/>
            <a:chOff x="0" y="0"/>
            <a:chExt cx="3203791" cy="911695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3169920" cy="877824"/>
            </a:xfrm>
            <a:custGeom>
              <a:avLst/>
              <a:gdLst/>
              <a:ahLst/>
              <a:cxnLst/>
              <a:rect l="l" t="t" r="r" b="b"/>
              <a:pathLst>
                <a:path w="3169920" h="877824">
                  <a:moveTo>
                    <a:pt x="0" y="0"/>
                  </a:moveTo>
                  <a:lnTo>
                    <a:pt x="3169920" y="0"/>
                  </a:lnTo>
                  <a:lnTo>
                    <a:pt x="31699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C0580A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203702" cy="911608"/>
            </a:xfrm>
            <a:custGeom>
              <a:avLst/>
              <a:gdLst/>
              <a:ahLst/>
              <a:cxnLst/>
              <a:rect l="l" t="t" r="r" b="b"/>
              <a:pathLst>
                <a:path w="3203702" h="911608">
                  <a:moveTo>
                    <a:pt x="16891" y="0"/>
                  </a:moveTo>
                  <a:lnTo>
                    <a:pt x="3186811" y="0"/>
                  </a:lnTo>
                  <a:cubicBezTo>
                    <a:pt x="3196209" y="0"/>
                    <a:pt x="3203702" y="7620"/>
                    <a:pt x="3203702" y="16891"/>
                  </a:cubicBezTo>
                  <a:lnTo>
                    <a:pt x="3203702" y="894715"/>
                  </a:lnTo>
                  <a:cubicBezTo>
                    <a:pt x="3203702" y="904113"/>
                    <a:pt x="3196082" y="911606"/>
                    <a:pt x="318681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3186811" y="877824"/>
                  </a:lnTo>
                  <a:lnTo>
                    <a:pt x="3186811" y="894715"/>
                  </a:lnTo>
                  <a:lnTo>
                    <a:pt x="3169920" y="894715"/>
                  </a:lnTo>
                  <a:lnTo>
                    <a:pt x="3169920" y="16891"/>
                  </a:lnTo>
                  <a:lnTo>
                    <a:pt x="3186811" y="16891"/>
                  </a:lnTo>
                  <a:lnTo>
                    <a:pt x="3186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580A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65760" y="170688"/>
            <a:ext cx="1584960" cy="438912"/>
            <a:chOff x="0" y="0"/>
            <a:chExt cx="3169920" cy="8778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69920" cy="877824"/>
            </a:xfrm>
            <a:custGeom>
              <a:avLst/>
              <a:gdLst/>
              <a:ahLst/>
              <a:cxnLst/>
              <a:rect l="l" t="t" r="r" b="b"/>
              <a:pathLst>
                <a:path w="3169920" h="877824">
                  <a:moveTo>
                    <a:pt x="0" y="0"/>
                  </a:moveTo>
                  <a:lnTo>
                    <a:pt x="3169920" y="0"/>
                  </a:lnTo>
                  <a:lnTo>
                    <a:pt x="3169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62" b="-2036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3169920" cy="8873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19"/>
                </a:lnSpc>
              </a:pPr>
              <a:r>
                <a:rPr lang="en-US" sz="16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TABLEAU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097024" y="121920"/>
            <a:ext cx="7924800" cy="438912"/>
            <a:chOff x="0" y="0"/>
            <a:chExt cx="15849600" cy="87782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849600" cy="877824"/>
            </a:xfrm>
            <a:custGeom>
              <a:avLst/>
              <a:gdLst/>
              <a:ahLst/>
              <a:cxnLst/>
              <a:rect l="l" t="t" r="r" b="b"/>
              <a:pathLst>
                <a:path w="15849600" h="877824">
                  <a:moveTo>
                    <a:pt x="0" y="0"/>
                  </a:moveTo>
                  <a:lnTo>
                    <a:pt x="15849600" y="0"/>
                  </a:lnTo>
                  <a:lnTo>
                    <a:pt x="15849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1813" b="-30181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15849600" cy="9444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719"/>
                </a:lnSpc>
              </a:pPr>
              <a:r>
                <a:rPr lang="en-US" sz="2267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Loan Dashboard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097024" y="560832"/>
            <a:ext cx="7924800" cy="316992"/>
            <a:chOff x="0" y="0"/>
            <a:chExt cx="15849600" cy="63398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849600" cy="633984"/>
            </a:xfrm>
            <a:custGeom>
              <a:avLst/>
              <a:gdLst/>
              <a:ahLst/>
              <a:cxnLst/>
              <a:rect l="l" t="t" r="r" b="b"/>
              <a:pathLst>
                <a:path w="15849600" h="633984">
                  <a:moveTo>
                    <a:pt x="0" y="0"/>
                  </a:moveTo>
                  <a:lnTo>
                    <a:pt x="15849600" y="0"/>
                  </a:lnTo>
                  <a:lnTo>
                    <a:pt x="15849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5849600" cy="6720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00"/>
                </a:lnSpc>
              </a:pPr>
              <a:r>
                <a:rPr lang="en-US" sz="1333" i="1">
                  <a:solidFill>
                    <a:srgbClr val="42A5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Multi-dimensional Loan Analysis using Tableau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546080" y="292608"/>
            <a:ext cx="1463040" cy="341376"/>
            <a:chOff x="0" y="0"/>
            <a:chExt cx="2926080" cy="68275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926080" cy="682752"/>
            </a:xfrm>
            <a:custGeom>
              <a:avLst/>
              <a:gdLst/>
              <a:ahLst/>
              <a:cxnLst/>
              <a:rect l="l" t="t" r="r" b="b"/>
              <a:pathLst>
                <a:path w="2926080" h="682752">
                  <a:moveTo>
                    <a:pt x="0" y="0"/>
                  </a:moveTo>
                  <a:lnTo>
                    <a:pt x="2926080" y="0"/>
                  </a:lnTo>
                  <a:lnTo>
                    <a:pt x="2926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07" b="-3350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92608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760"/>
                </a:lnSpc>
              </a:pPr>
              <a:r>
                <a:rPr lang="en-US" sz="1467">
                  <a:solidFill>
                    <a:srgbClr val="3747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/ 5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-8464" y="6782480"/>
            <a:ext cx="12208935" cy="83991"/>
            <a:chOff x="0" y="0"/>
            <a:chExt cx="24417871" cy="167983"/>
          </a:xfrm>
        </p:grpSpPr>
        <p:sp>
          <p:nvSpPr>
            <p:cNvPr id="85" name="Freeform 85"/>
            <p:cNvSpPr/>
            <p:nvPr/>
          </p:nvSpPr>
          <p:spPr>
            <a:xfrm>
              <a:off x="16891" y="16891"/>
              <a:ext cx="24383999" cy="134112"/>
            </a:xfrm>
            <a:custGeom>
              <a:avLst/>
              <a:gdLst/>
              <a:ahLst/>
              <a:cxnLst/>
              <a:rect l="l" t="t" r="r" b="b"/>
              <a:pathLst>
                <a:path w="24383999" h="134112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0580A"/>
            </a:solidFill>
          </p:spPr>
        </p:sp>
        <p:sp>
          <p:nvSpPr>
            <p:cNvPr id="86" name="Freeform 86"/>
            <p:cNvSpPr/>
            <p:nvPr/>
          </p:nvSpPr>
          <p:spPr>
            <a:xfrm>
              <a:off x="0" y="0"/>
              <a:ext cx="24417782" cy="167896"/>
            </a:xfrm>
            <a:custGeom>
              <a:avLst/>
              <a:gdLst/>
              <a:ahLst/>
              <a:cxnLst/>
              <a:rect l="l" t="t" r="r" b="b"/>
              <a:pathLst>
                <a:path w="24417782" h="167896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580A"/>
            </a:solidFill>
          </p:spPr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27" y="909551"/>
            <a:ext cx="10021824" cy="563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989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464" y="-8464"/>
            <a:ext cx="236391" cy="6874935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438912" cy="13715999"/>
            </a:xfrm>
            <a:custGeom>
              <a:avLst/>
              <a:gdLst/>
              <a:ahLst/>
              <a:cxnLst/>
              <a:rect l="l" t="t" r="r" b="b"/>
              <a:pathLst>
                <a:path w="438912" h="13715999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C0580A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472694" cy="13749782"/>
            </a:xfrm>
            <a:custGeom>
              <a:avLst/>
              <a:gdLst/>
              <a:ahLst/>
              <a:cxnLst/>
              <a:rect l="l" t="t" r="r" b="b"/>
              <a:pathLst>
                <a:path w="472694" h="13749782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580A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10992" y="-49870"/>
            <a:ext cx="11989479" cy="967911"/>
            <a:chOff x="0" y="0"/>
            <a:chExt cx="23978959" cy="1935823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3945088" cy="1901952"/>
            </a:xfrm>
            <a:custGeom>
              <a:avLst/>
              <a:gdLst/>
              <a:ahLst/>
              <a:cxnLst/>
              <a:rect l="l" t="t" r="r" b="b"/>
              <a:pathLst>
                <a:path w="23945088" h="1901952">
                  <a:moveTo>
                    <a:pt x="0" y="0"/>
                  </a:moveTo>
                  <a:lnTo>
                    <a:pt x="23945088" y="0"/>
                  </a:lnTo>
                  <a:lnTo>
                    <a:pt x="239450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F1F38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3978870" cy="1935734"/>
            </a:xfrm>
            <a:custGeom>
              <a:avLst/>
              <a:gdLst/>
              <a:ahLst/>
              <a:cxnLst/>
              <a:rect l="l" t="t" r="r" b="b"/>
              <a:pathLst>
                <a:path w="23978870" h="1935734">
                  <a:moveTo>
                    <a:pt x="16891" y="0"/>
                  </a:moveTo>
                  <a:lnTo>
                    <a:pt x="23961979" y="0"/>
                  </a:lnTo>
                  <a:cubicBezTo>
                    <a:pt x="23971377" y="0"/>
                    <a:pt x="23978870" y="7620"/>
                    <a:pt x="23978870" y="16891"/>
                  </a:cubicBezTo>
                  <a:lnTo>
                    <a:pt x="23978870" y="1918843"/>
                  </a:lnTo>
                  <a:cubicBezTo>
                    <a:pt x="23978870" y="1928241"/>
                    <a:pt x="23971250" y="1935734"/>
                    <a:pt x="239619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3961979" y="1901952"/>
                  </a:lnTo>
                  <a:lnTo>
                    <a:pt x="23961979" y="1918843"/>
                  </a:lnTo>
                  <a:lnTo>
                    <a:pt x="23945089" y="1918843"/>
                  </a:lnTo>
                  <a:lnTo>
                    <a:pt x="23945089" y="16891"/>
                  </a:lnTo>
                  <a:lnTo>
                    <a:pt x="23961979" y="16891"/>
                  </a:lnTo>
                  <a:lnTo>
                    <a:pt x="239619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1F38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357296" y="162224"/>
            <a:ext cx="1601895" cy="455847"/>
            <a:chOff x="0" y="0"/>
            <a:chExt cx="3203791" cy="911695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3169920" cy="877824"/>
            </a:xfrm>
            <a:custGeom>
              <a:avLst/>
              <a:gdLst/>
              <a:ahLst/>
              <a:cxnLst/>
              <a:rect l="l" t="t" r="r" b="b"/>
              <a:pathLst>
                <a:path w="3169920" h="877824">
                  <a:moveTo>
                    <a:pt x="0" y="0"/>
                  </a:moveTo>
                  <a:lnTo>
                    <a:pt x="3169920" y="0"/>
                  </a:lnTo>
                  <a:lnTo>
                    <a:pt x="31699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C0580A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203702" cy="911608"/>
            </a:xfrm>
            <a:custGeom>
              <a:avLst/>
              <a:gdLst/>
              <a:ahLst/>
              <a:cxnLst/>
              <a:rect l="l" t="t" r="r" b="b"/>
              <a:pathLst>
                <a:path w="3203702" h="911608">
                  <a:moveTo>
                    <a:pt x="16891" y="0"/>
                  </a:moveTo>
                  <a:lnTo>
                    <a:pt x="3186811" y="0"/>
                  </a:lnTo>
                  <a:cubicBezTo>
                    <a:pt x="3196209" y="0"/>
                    <a:pt x="3203702" y="7620"/>
                    <a:pt x="3203702" y="16891"/>
                  </a:cubicBezTo>
                  <a:lnTo>
                    <a:pt x="3203702" y="894715"/>
                  </a:lnTo>
                  <a:cubicBezTo>
                    <a:pt x="3203702" y="904113"/>
                    <a:pt x="3196082" y="911606"/>
                    <a:pt x="318681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3186811" y="877824"/>
                  </a:lnTo>
                  <a:lnTo>
                    <a:pt x="3186811" y="894715"/>
                  </a:lnTo>
                  <a:lnTo>
                    <a:pt x="3169920" y="894715"/>
                  </a:lnTo>
                  <a:lnTo>
                    <a:pt x="3169920" y="16891"/>
                  </a:lnTo>
                  <a:lnTo>
                    <a:pt x="3186811" y="16891"/>
                  </a:lnTo>
                  <a:lnTo>
                    <a:pt x="3186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580A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65760" y="144930"/>
            <a:ext cx="1584960" cy="438912"/>
            <a:chOff x="0" y="0"/>
            <a:chExt cx="3169920" cy="8778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69920" cy="877824"/>
            </a:xfrm>
            <a:custGeom>
              <a:avLst/>
              <a:gdLst/>
              <a:ahLst/>
              <a:cxnLst/>
              <a:rect l="l" t="t" r="r" b="b"/>
              <a:pathLst>
                <a:path w="3169920" h="877824">
                  <a:moveTo>
                    <a:pt x="0" y="0"/>
                  </a:moveTo>
                  <a:lnTo>
                    <a:pt x="3169920" y="0"/>
                  </a:lnTo>
                  <a:lnTo>
                    <a:pt x="3169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62" b="-2036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3169920" cy="8873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19"/>
                </a:lnSpc>
              </a:pPr>
              <a:r>
                <a:rPr lang="en-US" sz="16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Power BI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097024" y="121920"/>
            <a:ext cx="7924800" cy="438912"/>
            <a:chOff x="0" y="0"/>
            <a:chExt cx="15849600" cy="87782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849600" cy="877824"/>
            </a:xfrm>
            <a:custGeom>
              <a:avLst/>
              <a:gdLst/>
              <a:ahLst/>
              <a:cxnLst/>
              <a:rect l="l" t="t" r="r" b="b"/>
              <a:pathLst>
                <a:path w="15849600" h="877824">
                  <a:moveTo>
                    <a:pt x="0" y="0"/>
                  </a:moveTo>
                  <a:lnTo>
                    <a:pt x="15849600" y="0"/>
                  </a:lnTo>
                  <a:lnTo>
                    <a:pt x="15849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1813" b="-30181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15849600" cy="9444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719"/>
                </a:lnSpc>
              </a:pPr>
              <a:r>
                <a:rPr lang="en-US" sz="2267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Bank Debit &amp; Credit Dashboard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097024" y="560832"/>
            <a:ext cx="7924800" cy="316992"/>
            <a:chOff x="0" y="0"/>
            <a:chExt cx="15849600" cy="63398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849600" cy="633984"/>
            </a:xfrm>
            <a:custGeom>
              <a:avLst/>
              <a:gdLst/>
              <a:ahLst/>
              <a:cxnLst/>
              <a:rect l="l" t="t" r="r" b="b"/>
              <a:pathLst>
                <a:path w="15849600" h="633984">
                  <a:moveTo>
                    <a:pt x="0" y="0"/>
                  </a:moveTo>
                  <a:lnTo>
                    <a:pt x="15849600" y="0"/>
                  </a:lnTo>
                  <a:lnTo>
                    <a:pt x="15849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5849600" cy="6720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00"/>
                </a:lnSpc>
              </a:pPr>
              <a:r>
                <a:rPr lang="en-US" sz="1333" i="1">
                  <a:solidFill>
                    <a:srgbClr val="42A5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Multi-dimensional Loan Analysis using Tableau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546080" y="292608"/>
            <a:ext cx="1463040" cy="341376"/>
            <a:chOff x="0" y="0"/>
            <a:chExt cx="2926080" cy="68275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926080" cy="682752"/>
            </a:xfrm>
            <a:custGeom>
              <a:avLst/>
              <a:gdLst/>
              <a:ahLst/>
              <a:cxnLst/>
              <a:rect l="l" t="t" r="r" b="b"/>
              <a:pathLst>
                <a:path w="2926080" h="682752">
                  <a:moveTo>
                    <a:pt x="0" y="0"/>
                  </a:moveTo>
                  <a:lnTo>
                    <a:pt x="2926080" y="0"/>
                  </a:lnTo>
                  <a:lnTo>
                    <a:pt x="2926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07" b="-3350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92608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760"/>
                </a:lnSpc>
              </a:pPr>
              <a:r>
                <a:rPr lang="en-US" sz="1467">
                  <a:solidFill>
                    <a:srgbClr val="3747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/ 5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-8464" y="6782480"/>
            <a:ext cx="12208935" cy="83991"/>
            <a:chOff x="0" y="0"/>
            <a:chExt cx="24417871" cy="167983"/>
          </a:xfrm>
        </p:grpSpPr>
        <p:sp>
          <p:nvSpPr>
            <p:cNvPr id="85" name="Freeform 85"/>
            <p:cNvSpPr/>
            <p:nvPr/>
          </p:nvSpPr>
          <p:spPr>
            <a:xfrm>
              <a:off x="16891" y="16891"/>
              <a:ext cx="24383999" cy="134112"/>
            </a:xfrm>
            <a:custGeom>
              <a:avLst/>
              <a:gdLst/>
              <a:ahLst/>
              <a:cxnLst/>
              <a:rect l="l" t="t" r="r" b="b"/>
              <a:pathLst>
                <a:path w="24383999" h="134112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0580A"/>
            </a:solidFill>
          </p:spPr>
        </p:sp>
        <p:sp>
          <p:nvSpPr>
            <p:cNvPr id="86" name="Freeform 86"/>
            <p:cNvSpPr/>
            <p:nvPr/>
          </p:nvSpPr>
          <p:spPr>
            <a:xfrm>
              <a:off x="0" y="0"/>
              <a:ext cx="24417782" cy="167896"/>
            </a:xfrm>
            <a:custGeom>
              <a:avLst/>
              <a:gdLst/>
              <a:ahLst/>
              <a:cxnLst/>
              <a:rect l="l" t="t" r="r" b="b"/>
              <a:pathLst>
                <a:path w="24417782" h="167896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580A"/>
            </a:solidFill>
          </p:spPr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21" y="874060"/>
            <a:ext cx="10200068" cy="573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608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464" y="-8464"/>
            <a:ext cx="236391" cy="6874935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438912" cy="13715999"/>
            </a:xfrm>
            <a:custGeom>
              <a:avLst/>
              <a:gdLst/>
              <a:ahLst/>
              <a:cxnLst/>
              <a:rect l="l" t="t" r="r" b="b"/>
              <a:pathLst>
                <a:path w="438912" h="13715999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C0580A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472694" cy="13749782"/>
            </a:xfrm>
            <a:custGeom>
              <a:avLst/>
              <a:gdLst/>
              <a:ahLst/>
              <a:cxnLst/>
              <a:rect l="l" t="t" r="r" b="b"/>
              <a:pathLst>
                <a:path w="472694" h="13749782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580A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10992" y="-49870"/>
            <a:ext cx="11989479" cy="967911"/>
            <a:chOff x="0" y="0"/>
            <a:chExt cx="23978959" cy="1935823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3945088" cy="1901952"/>
            </a:xfrm>
            <a:custGeom>
              <a:avLst/>
              <a:gdLst/>
              <a:ahLst/>
              <a:cxnLst/>
              <a:rect l="l" t="t" r="r" b="b"/>
              <a:pathLst>
                <a:path w="23945088" h="1901952">
                  <a:moveTo>
                    <a:pt x="0" y="0"/>
                  </a:moveTo>
                  <a:lnTo>
                    <a:pt x="23945088" y="0"/>
                  </a:lnTo>
                  <a:lnTo>
                    <a:pt x="239450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F1F38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3978870" cy="1935734"/>
            </a:xfrm>
            <a:custGeom>
              <a:avLst/>
              <a:gdLst/>
              <a:ahLst/>
              <a:cxnLst/>
              <a:rect l="l" t="t" r="r" b="b"/>
              <a:pathLst>
                <a:path w="23978870" h="1935734">
                  <a:moveTo>
                    <a:pt x="16891" y="0"/>
                  </a:moveTo>
                  <a:lnTo>
                    <a:pt x="23961979" y="0"/>
                  </a:lnTo>
                  <a:cubicBezTo>
                    <a:pt x="23971377" y="0"/>
                    <a:pt x="23978870" y="7620"/>
                    <a:pt x="23978870" y="16891"/>
                  </a:cubicBezTo>
                  <a:lnTo>
                    <a:pt x="23978870" y="1918843"/>
                  </a:lnTo>
                  <a:cubicBezTo>
                    <a:pt x="23978870" y="1928241"/>
                    <a:pt x="23971250" y="1935734"/>
                    <a:pt x="239619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3961979" y="1901952"/>
                  </a:lnTo>
                  <a:lnTo>
                    <a:pt x="23961979" y="1918843"/>
                  </a:lnTo>
                  <a:lnTo>
                    <a:pt x="23945089" y="1918843"/>
                  </a:lnTo>
                  <a:lnTo>
                    <a:pt x="23945089" y="16891"/>
                  </a:lnTo>
                  <a:lnTo>
                    <a:pt x="23961979" y="16891"/>
                  </a:lnTo>
                  <a:lnTo>
                    <a:pt x="239619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1F38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357296" y="162224"/>
            <a:ext cx="1601895" cy="455847"/>
            <a:chOff x="0" y="0"/>
            <a:chExt cx="3203791" cy="911695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3169920" cy="877824"/>
            </a:xfrm>
            <a:custGeom>
              <a:avLst/>
              <a:gdLst/>
              <a:ahLst/>
              <a:cxnLst/>
              <a:rect l="l" t="t" r="r" b="b"/>
              <a:pathLst>
                <a:path w="3169920" h="877824">
                  <a:moveTo>
                    <a:pt x="0" y="0"/>
                  </a:moveTo>
                  <a:lnTo>
                    <a:pt x="3169920" y="0"/>
                  </a:lnTo>
                  <a:lnTo>
                    <a:pt x="31699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C0580A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203702" cy="911608"/>
            </a:xfrm>
            <a:custGeom>
              <a:avLst/>
              <a:gdLst/>
              <a:ahLst/>
              <a:cxnLst/>
              <a:rect l="l" t="t" r="r" b="b"/>
              <a:pathLst>
                <a:path w="3203702" h="911608">
                  <a:moveTo>
                    <a:pt x="16891" y="0"/>
                  </a:moveTo>
                  <a:lnTo>
                    <a:pt x="3186811" y="0"/>
                  </a:lnTo>
                  <a:cubicBezTo>
                    <a:pt x="3196209" y="0"/>
                    <a:pt x="3203702" y="7620"/>
                    <a:pt x="3203702" y="16891"/>
                  </a:cubicBezTo>
                  <a:lnTo>
                    <a:pt x="3203702" y="894715"/>
                  </a:lnTo>
                  <a:cubicBezTo>
                    <a:pt x="3203702" y="904113"/>
                    <a:pt x="3196082" y="911606"/>
                    <a:pt x="318681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3186811" y="877824"/>
                  </a:lnTo>
                  <a:lnTo>
                    <a:pt x="3186811" y="894715"/>
                  </a:lnTo>
                  <a:lnTo>
                    <a:pt x="3169920" y="894715"/>
                  </a:lnTo>
                  <a:lnTo>
                    <a:pt x="3169920" y="16891"/>
                  </a:lnTo>
                  <a:lnTo>
                    <a:pt x="3186811" y="16891"/>
                  </a:lnTo>
                  <a:lnTo>
                    <a:pt x="3186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580A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65760" y="170688"/>
            <a:ext cx="1584960" cy="438912"/>
            <a:chOff x="0" y="0"/>
            <a:chExt cx="3169920" cy="8778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69920" cy="877824"/>
            </a:xfrm>
            <a:custGeom>
              <a:avLst/>
              <a:gdLst/>
              <a:ahLst/>
              <a:cxnLst/>
              <a:rect l="l" t="t" r="r" b="b"/>
              <a:pathLst>
                <a:path w="3169920" h="877824">
                  <a:moveTo>
                    <a:pt x="0" y="0"/>
                  </a:moveTo>
                  <a:lnTo>
                    <a:pt x="3169920" y="0"/>
                  </a:lnTo>
                  <a:lnTo>
                    <a:pt x="3169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62" b="-2036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3169920" cy="8873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19"/>
                </a:lnSpc>
              </a:pPr>
              <a:r>
                <a:rPr lang="en-US" sz="16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TABLEAU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097024" y="121920"/>
            <a:ext cx="7924800" cy="438912"/>
            <a:chOff x="0" y="0"/>
            <a:chExt cx="15849600" cy="87782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849600" cy="877824"/>
            </a:xfrm>
            <a:custGeom>
              <a:avLst/>
              <a:gdLst/>
              <a:ahLst/>
              <a:cxnLst/>
              <a:rect l="l" t="t" r="r" b="b"/>
              <a:pathLst>
                <a:path w="15849600" h="877824">
                  <a:moveTo>
                    <a:pt x="0" y="0"/>
                  </a:moveTo>
                  <a:lnTo>
                    <a:pt x="15849600" y="0"/>
                  </a:lnTo>
                  <a:lnTo>
                    <a:pt x="15849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1813" b="-30181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15849600" cy="9444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719"/>
                </a:lnSpc>
              </a:pPr>
              <a:r>
                <a:rPr lang="en-US" sz="2267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Loan Dashboard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097024" y="560832"/>
            <a:ext cx="7924800" cy="316992"/>
            <a:chOff x="0" y="0"/>
            <a:chExt cx="15849600" cy="63398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849600" cy="633984"/>
            </a:xfrm>
            <a:custGeom>
              <a:avLst/>
              <a:gdLst/>
              <a:ahLst/>
              <a:cxnLst/>
              <a:rect l="l" t="t" r="r" b="b"/>
              <a:pathLst>
                <a:path w="15849600" h="633984">
                  <a:moveTo>
                    <a:pt x="0" y="0"/>
                  </a:moveTo>
                  <a:lnTo>
                    <a:pt x="15849600" y="0"/>
                  </a:lnTo>
                  <a:lnTo>
                    <a:pt x="15849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5849600" cy="6720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00"/>
                </a:lnSpc>
              </a:pPr>
              <a:r>
                <a:rPr lang="en-US" sz="1333" i="1">
                  <a:solidFill>
                    <a:srgbClr val="42A5F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Multi-dimensional Loan Analysis using Tableau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546080" y="292608"/>
            <a:ext cx="1463040" cy="341376"/>
            <a:chOff x="0" y="0"/>
            <a:chExt cx="2926080" cy="68275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926080" cy="682752"/>
            </a:xfrm>
            <a:custGeom>
              <a:avLst/>
              <a:gdLst/>
              <a:ahLst/>
              <a:cxnLst/>
              <a:rect l="l" t="t" r="r" b="b"/>
              <a:pathLst>
                <a:path w="2926080" h="682752">
                  <a:moveTo>
                    <a:pt x="0" y="0"/>
                  </a:moveTo>
                  <a:lnTo>
                    <a:pt x="2926080" y="0"/>
                  </a:lnTo>
                  <a:lnTo>
                    <a:pt x="2926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07" b="-3350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92608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760"/>
                </a:lnSpc>
              </a:pPr>
              <a:r>
                <a:rPr lang="en-US" sz="1467">
                  <a:solidFill>
                    <a:srgbClr val="3747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/ 5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-8464" y="6782480"/>
            <a:ext cx="12208935" cy="83991"/>
            <a:chOff x="0" y="0"/>
            <a:chExt cx="24417871" cy="167983"/>
          </a:xfrm>
        </p:grpSpPr>
        <p:sp>
          <p:nvSpPr>
            <p:cNvPr id="85" name="Freeform 85"/>
            <p:cNvSpPr/>
            <p:nvPr/>
          </p:nvSpPr>
          <p:spPr>
            <a:xfrm>
              <a:off x="16891" y="16891"/>
              <a:ext cx="24383999" cy="134112"/>
            </a:xfrm>
            <a:custGeom>
              <a:avLst/>
              <a:gdLst/>
              <a:ahLst/>
              <a:cxnLst/>
              <a:rect l="l" t="t" r="r" b="b"/>
              <a:pathLst>
                <a:path w="24383999" h="134112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0580A"/>
            </a:solidFill>
          </p:spPr>
        </p:sp>
        <p:sp>
          <p:nvSpPr>
            <p:cNvPr id="86" name="Freeform 86"/>
            <p:cNvSpPr/>
            <p:nvPr/>
          </p:nvSpPr>
          <p:spPr>
            <a:xfrm>
              <a:off x="0" y="0"/>
              <a:ext cx="24417782" cy="167896"/>
            </a:xfrm>
            <a:custGeom>
              <a:avLst/>
              <a:gdLst/>
              <a:ahLst/>
              <a:cxnLst/>
              <a:rect l="l" t="t" r="r" b="b"/>
              <a:pathLst>
                <a:path w="24417782" h="167896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580A"/>
            </a:solidFill>
          </p:spPr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40" y="886269"/>
            <a:ext cx="9957767" cy="566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0279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464" y="-8464"/>
            <a:ext cx="565575" cy="6874935"/>
            <a:chOff x="0" y="0"/>
            <a:chExt cx="1131151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097280" cy="13715999"/>
            </a:xfrm>
            <a:custGeom>
              <a:avLst/>
              <a:gdLst/>
              <a:ahLst/>
              <a:cxnLst/>
              <a:rect l="l" t="t" r="r" b="b"/>
              <a:pathLst>
                <a:path w="1097280" h="13715999">
                  <a:moveTo>
                    <a:pt x="0" y="0"/>
                  </a:moveTo>
                  <a:lnTo>
                    <a:pt x="1097280" y="0"/>
                  </a:lnTo>
                  <a:lnTo>
                    <a:pt x="109728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131062" cy="13749782"/>
            </a:xfrm>
            <a:custGeom>
              <a:avLst/>
              <a:gdLst/>
              <a:ahLst/>
              <a:cxnLst/>
              <a:rect l="l" t="t" r="r" b="b"/>
              <a:pathLst>
                <a:path w="1131062" h="1374978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13732890"/>
                  </a:lnTo>
                  <a:cubicBezTo>
                    <a:pt x="1131062" y="13742290"/>
                    <a:pt x="1123442" y="13749782"/>
                    <a:pt x="111417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114171" y="13716000"/>
                  </a:lnTo>
                  <a:lnTo>
                    <a:pt x="1114171" y="13732890"/>
                  </a:lnTo>
                  <a:lnTo>
                    <a:pt x="1097280" y="13732890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8464" y="6782480"/>
            <a:ext cx="12208935" cy="83991"/>
            <a:chOff x="0" y="0"/>
            <a:chExt cx="24417871" cy="167983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134112"/>
            </a:xfrm>
            <a:custGeom>
              <a:avLst/>
              <a:gdLst/>
              <a:ahLst/>
              <a:cxnLst/>
              <a:rect l="l" t="t" r="r" b="b"/>
              <a:pathLst>
                <a:path w="24383999" h="134112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67896"/>
            </a:xfrm>
            <a:custGeom>
              <a:avLst/>
              <a:gdLst/>
              <a:ahLst/>
              <a:cxnLst/>
              <a:rect l="l" t="t" r="r" b="b"/>
              <a:pathLst>
                <a:path w="24417782" h="167896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792480" y="1097280"/>
            <a:ext cx="11094720" cy="1584960"/>
            <a:chOff x="0" y="0"/>
            <a:chExt cx="22189440" cy="31699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89439" cy="3169920"/>
            </a:xfrm>
            <a:custGeom>
              <a:avLst/>
              <a:gdLst/>
              <a:ahLst/>
              <a:cxnLst/>
              <a:rect l="l" t="t" r="r" b="b"/>
              <a:pathLst>
                <a:path w="22189439" h="3169920">
                  <a:moveTo>
                    <a:pt x="0" y="0"/>
                  </a:moveTo>
                  <a:lnTo>
                    <a:pt x="22189439" y="0"/>
                  </a:lnTo>
                  <a:lnTo>
                    <a:pt x="22189439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2189440" cy="3227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880"/>
                </a:lnSpc>
              </a:pPr>
              <a:r>
                <a:rPr lang="en-US" sz="9067" b="1" spc="667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 YOU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4016" y="2795696"/>
            <a:ext cx="7332135" cy="90087"/>
            <a:chOff x="0" y="0"/>
            <a:chExt cx="14664271" cy="180175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14630399" cy="146304"/>
            </a:xfrm>
            <a:custGeom>
              <a:avLst/>
              <a:gdLst/>
              <a:ahLst/>
              <a:cxnLst/>
              <a:rect l="l" t="t" r="r" b="b"/>
              <a:pathLst>
                <a:path w="14630399" h="146304">
                  <a:moveTo>
                    <a:pt x="0" y="0"/>
                  </a:moveTo>
                  <a:lnTo>
                    <a:pt x="14630399" y="0"/>
                  </a:lnTo>
                  <a:lnTo>
                    <a:pt x="1463039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4664182" cy="180088"/>
            </a:xfrm>
            <a:custGeom>
              <a:avLst/>
              <a:gdLst/>
              <a:ahLst/>
              <a:cxnLst/>
              <a:rect l="l" t="t" r="r" b="b"/>
              <a:pathLst>
                <a:path w="14664182" h="180088">
                  <a:moveTo>
                    <a:pt x="16891" y="0"/>
                  </a:moveTo>
                  <a:lnTo>
                    <a:pt x="14647290" y="0"/>
                  </a:lnTo>
                  <a:cubicBezTo>
                    <a:pt x="14656690" y="0"/>
                    <a:pt x="14664182" y="7620"/>
                    <a:pt x="14664182" y="16891"/>
                  </a:cubicBezTo>
                  <a:lnTo>
                    <a:pt x="14664182" y="163195"/>
                  </a:lnTo>
                  <a:cubicBezTo>
                    <a:pt x="14664182" y="172593"/>
                    <a:pt x="14656563" y="180086"/>
                    <a:pt x="14647290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4647290" y="146304"/>
                  </a:lnTo>
                  <a:lnTo>
                    <a:pt x="14647290" y="163195"/>
                  </a:lnTo>
                  <a:lnTo>
                    <a:pt x="14630400" y="163195"/>
                  </a:lnTo>
                  <a:lnTo>
                    <a:pt x="14630400" y="16891"/>
                  </a:lnTo>
                  <a:lnTo>
                    <a:pt x="14647290" y="16891"/>
                  </a:lnTo>
                  <a:lnTo>
                    <a:pt x="14647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92480" y="3048000"/>
            <a:ext cx="10972800" cy="633984"/>
            <a:chOff x="0" y="0"/>
            <a:chExt cx="21945600" cy="12679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45600" cy="1267968"/>
            </a:xfrm>
            <a:custGeom>
              <a:avLst/>
              <a:gdLst/>
              <a:ahLst/>
              <a:cxnLst/>
              <a:rect l="l" t="t" r="r" b="b"/>
              <a:pathLst>
                <a:path w="21945600" h="1267968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241" b="-28724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21945600" cy="13441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040"/>
                </a:lnSpc>
              </a:pPr>
              <a:r>
                <a:rPr lang="en-US" sz="2533" b="1">
                  <a:solidFill>
                    <a:srgbClr val="42A5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Group Presentation — Data Analytics Capstone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92480" y="3803904"/>
            <a:ext cx="10972800" cy="548640"/>
            <a:chOff x="0" y="0"/>
            <a:chExt cx="21945600" cy="10972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945600" cy="1097280"/>
            </a:xfrm>
            <a:custGeom>
              <a:avLst/>
              <a:gdLst/>
              <a:ahLst/>
              <a:cxnLst/>
              <a:rect l="l" t="t" r="r" b="b"/>
              <a:pathLst>
                <a:path w="21945600" h="109728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2194560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400"/>
                </a:lnSpc>
              </a:pPr>
              <a:r>
                <a:rPr lang="en-US" sz="2000" dirty="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S•  Om Haraniya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80" y="4608576"/>
            <a:ext cx="10972800" cy="426720"/>
            <a:chOff x="0" y="0"/>
            <a:chExt cx="21945600" cy="8534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919"/>
                </a:lnSpc>
              </a:pPr>
              <a:r>
                <a:rPr lang="en-US" sz="1600">
                  <a:solidFill>
                    <a:srgbClr val="3747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ExcelR Data Analytics Training  |  Capstone Projects  |  2026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4016" y="5502320"/>
            <a:ext cx="6112935" cy="480231"/>
            <a:chOff x="0" y="0"/>
            <a:chExt cx="12225871" cy="960463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12192000" cy="926592"/>
            </a:xfrm>
            <a:custGeom>
              <a:avLst/>
              <a:gdLst/>
              <a:ahLst/>
              <a:cxnLst/>
              <a:rect l="l" t="t" r="r" b="b"/>
              <a:pathLst>
                <a:path w="12192000" h="926592">
                  <a:moveTo>
                    <a:pt x="0" y="0"/>
                  </a:moveTo>
                  <a:lnTo>
                    <a:pt x="12192000" y="0"/>
                  </a:lnTo>
                  <a:lnTo>
                    <a:pt x="121920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12225782" cy="960376"/>
            </a:xfrm>
            <a:custGeom>
              <a:avLst/>
              <a:gdLst/>
              <a:ahLst/>
              <a:cxnLst/>
              <a:rect l="l" t="t" r="r" b="b"/>
              <a:pathLst>
                <a:path w="12225782" h="960376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943483"/>
                  </a:lnTo>
                  <a:cubicBezTo>
                    <a:pt x="12225782" y="952881"/>
                    <a:pt x="12218162" y="960374"/>
                    <a:pt x="1220889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2208891" y="926592"/>
                  </a:lnTo>
                  <a:lnTo>
                    <a:pt x="12208891" y="943483"/>
                  </a:lnTo>
                  <a:lnTo>
                    <a:pt x="12192000" y="943483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792480" y="5510784"/>
            <a:ext cx="6096000" cy="463296"/>
            <a:chOff x="0" y="0"/>
            <a:chExt cx="12192000" cy="9265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192000" cy="926592"/>
            </a:xfrm>
            <a:custGeom>
              <a:avLst/>
              <a:gdLst/>
              <a:ahLst/>
              <a:cxnLst/>
              <a:rect l="l" t="t" r="r" b="b"/>
              <a:pathLst>
                <a:path w="12192000" h="926592">
                  <a:moveTo>
                    <a:pt x="0" y="0"/>
                  </a:moveTo>
                  <a:lnTo>
                    <a:pt x="12192000" y="0"/>
                  </a:lnTo>
                  <a:lnTo>
                    <a:pt x="12192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382" b="-206382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1219200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866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Excel  •  Power BI  •  Tableau  •  SQL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6656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428</TotalTime>
  <Words>1263</Words>
  <Application>Microsoft Office PowerPoint</Application>
  <PresentationFormat>Widescreen</PresentationFormat>
  <Paragraphs>207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</vt:lpstr>
      <vt:lpstr>Arial Bold</vt:lpstr>
      <vt:lpstr>Bookman Old Style</vt:lpstr>
      <vt:lpstr>Calibri</vt:lpstr>
      <vt:lpstr>Calibri (MS)</vt:lpstr>
      <vt:lpstr>Calibri (MS) Bold</vt:lpstr>
      <vt:lpstr>Calibri (MS) Italics</vt:lpstr>
      <vt:lpstr>Rockwell</vt:lpstr>
      <vt:lpstr>Times New Roman</vt:lpstr>
      <vt:lpstr>Wingdings</vt:lpstr>
      <vt:lpstr>Damask</vt:lpstr>
      <vt:lpstr>PowerPoint Presentation</vt:lpstr>
      <vt:lpstr>                                                                      Introduction</vt:lpstr>
      <vt:lpstr>                                                                      Introduction</vt:lpstr>
      <vt:lpstr>     Process</vt:lpstr>
      <vt:lpstr>Objectives :KPI</vt:lpstr>
      <vt:lpstr>Transactions analysis (Day-wise, Week-wise, Month-wise)</vt:lpstr>
      <vt:lpstr>TOP PERFORMING Branch</vt:lpstr>
      <vt:lpstr>Product group wise loan funded </vt:lpstr>
      <vt:lpstr>High Risk analysis</vt:lpstr>
      <vt:lpstr>ANALYSIS OF Suspicious transaction</vt:lpstr>
      <vt:lpstr>bank Wise Loan Summary</vt:lpstr>
      <vt:lpstr>Identifies transaction method distributions </vt:lpstr>
      <vt:lpstr>Religion wise analysis </vt:lpstr>
      <vt:lpstr>Age group wise analysis </vt:lpstr>
      <vt:lpstr>Challenges Faced During the Project</vt:lpstr>
      <vt:lpstr>Key Learnings and Takeaways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2</dc:title>
  <dc:creator>Administrator</dc:creator>
  <cp:lastModifiedBy>Om Haraniya</cp:lastModifiedBy>
  <cp:revision>57</cp:revision>
  <dcterms:created xsi:type="dcterms:W3CDTF">2026-03-30T10:47:48Z</dcterms:created>
  <dcterms:modified xsi:type="dcterms:W3CDTF">2026-08-14T11:44:14Z</dcterms:modified>
</cp:coreProperties>
</file>